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3e49876-1596-852c-db08-0325936752ce}">
          <p14:sldIdLst>
            <p14:sldId id="256"/>
            <p14:sldId id="257"/>
          </p14:sldIdLst>
        </p14:section>
        <p14:section name="RBC, simply" id="{fb54502b-4063-9ed5-76f8-f34f94a24355}">
          <p14:sldIdLst>
            <p14:sldId id="258"/>
            <p14:sldId id="259"/>
            <p14:sldId id="260"/>
            <p14:sldId id="261"/>
            <p14:sldId id="262"/>
            <p14:sldId id="263"/>
          </p14:sldIdLst>
        </p14:section>
        <p14:section name="Chess vs RBC" id="{3687f32f-d904-4432-caf0-ab4d1bfcab58}">
          <p14:sldIdLst>
            <p14:sldId id="264"/>
            <p14:sldId id="265"/>
            <p14:sldId id="266"/>
            <p14:sldId id="267"/>
          </p14:sldIdLst>
        </p14:section>
        <p14:section name="The bot" id="{069f051f-588b-f191-4ba5-e3b0d8778fe4}">
          <p14:sldIdLst>
            <p14:sldId id="268"/>
            <p14:sldId id="269"/>
            <p14:sldId id="270"/>
            <p14:sldId id="271"/>
          </p14:sldIdLst>
        </p14:section>
        <p14:section name="The GRM" id="{5194f4a7-0a34-f730-e64d-4dd456ef62f7}">
          <p14:sldIdLst>
            <p14:sldId id="272"/>
            <p14:sldId id="273"/>
            <p14:sldId id="274"/>
            <p14:sldId id="275"/>
            <p14:sldId id="276"/>
            <p14:sldId id="277"/>
            <p14:sldId id="278"/>
            <p14:sldId id="279"/>
          </p14:sldIdLst>
        </p14:section>
        <p14:section name="Code and results" id="{928b6f6b-53d5-7344-0b94-3f4c618fcbc1}">
          <p14:sldIdLst>
            <p14:sldId id="280"/>
            <p14:sldId id="281"/>
            <p14:sldId id="282"/>
            <p14:sldId id="283"/>
            <p14:sldId id="284"/>
            <p14:sldId id="285"/>
          </p14:sldIdLst>
        </p14:section>
        <p14:section name="Summary" id="{74029e24-4b84-87c7-b4b1-3fbaba1a0374}">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B22"/>
                </a:solidFill>
                <a:latin typeface="+mn-lt"/>
              </a:defRPr>
            </a:pPr>
            <a:r>
              <a:rPr sz="1300" b="0" i="0" u="none" strike="noStrike">
                <a:solidFill>
                  <a:srgbClr val="1C2B22"/>
                </a:solidFill>
                <a:latin typeface="+mn-lt"/>
              </a:rPr>
              <a:t>Average Elo excluding forfeits (thesis, Table 4.2)</a:t>
            </a:r>
          </a:p>
        </c:rich>
      </c:tx>
      <c:layout/>
      <c:overlay val="0"/>
    </c:title>
    <c:autoTitleDeleted val="0"/>
    <c:plotArea>
      <c:layout/>
      <c:barChart>
        <c:barDir val="col"/>
        <c:grouping val="clustered"/>
        <c:varyColors val="0"/>
        <c:ser>
          <c:idx val="0"/>
          <c:order val="0"/>
          <c:tx>
            <c:strRef>
              <c:f>Sheet1!$B$1</c:f>
              <c:strCache>
                <c:ptCount val="1"/>
                <c:pt idx="0">
                  <c:v>Average Elo, excluding forfeits</c:v>
                </c:pt>
              </c:strCache>
            </c:strRef>
          </c:tx>
          <c:spPr>
            <a:solidFill>
              <a:srgbClr val="2E5E45"/>
            </a:solidFill>
            <a:effectLst/>
          </c:spPr>
          <c:invertIfNegative val="0"/>
          <c:dLbls>
            <c:numFmt formatCode="#,##0" sourceLinked="0"/>
            <c:txPr>
              <a:bodyPr/>
              <a:lstStyle/>
              <a:p>
                <a:pPr>
                  <a:defRPr b="0" i="0" strike="noStrike" sz="1400" u="none">
                    <a:solidFill>
                      <a:srgbClr val="1C2B22"/>
                    </a:solidFill>
                    <a:latin typeface="+mn-lt"/>
                  </a:defRPr>
                </a:pPr>
              </a:p>
            </c:txPr>
            <c:showLegendKey val="0"/>
            <c:showVal val="1"/>
            <c:showCatName val="0"/>
            <c:showSerName val="0"/>
            <c:showPercent val="0"/>
            <c:showBubbleSize val="0"/>
            <c:showLeaderLines val="0"/>
          </c:dLbls>
          <c:dPt>
            <c:idx val="0"/>
            <c:invertIfNegative val="0"/>
            <c:bubble3D val="0"/>
            <c:spPr>
              <a:solidFill>
                <a:srgbClr val="2E5E45"/>
              </a:solidFill>
              <a:effectLst/>
            </c:spPr>
          </c:dPt>
          <c:dPt>
            <c:idx val="1"/>
            <c:invertIfNegative val="0"/>
            <c:bubble3D val="0"/>
            <c:spPr>
              <a:solidFill>
                <a:srgbClr val="3A3F44"/>
              </a:solidFill>
              <a:effectLst/>
            </c:spPr>
          </c:dPt>
          <c:cat>
            <c:multiLvlStrRef>
              <c:f>Sheet1!$A$2:$A$3</c:f>
              <c:multiLvlStrCache>
                <c:ptCount val="2"/>
                <c:lvl>
                  <c:pt idx="0">
                    <c:v>uccchess (GRM)</c:v>
                  </c:pt>
                  <c:pt idx="1">
                    <c:v>srcork (Q-learning)</c:v>
                  </c:pt>
                </c:lvl>
              </c:multiLvlStrCache>
            </c:multiLvlStrRef>
          </c:cat>
          <c:val>
            <c:numRef>
              <c:f>Sheet1!$B$2:$B$3</c:f>
              <c:numCache>
                <c:formatCode>General</c:formatCode>
                <c:ptCount val="2"/>
                <c:pt idx="0">
                  <c:v>1365</c:v>
                </c:pt>
                <c:pt idx="1">
                  <c:v>1190</c:v>
                </c:pt>
              </c:numCache>
            </c:numRef>
          </c:val>
        </c:ser>
        <c:dLbls>
          <c:numFmt formatCode="#,##0" sourceLinked="0"/>
          <c:txPr>
            <a:bodyPr/>
            <a:lstStyle/>
            <a:p>
              <a:pPr>
                <a:defRPr b="0" i="0" strike="noStrike" sz="1400" u="none">
                  <a:solidFill>
                    <a:srgbClr val="1C2B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F44"/>
                </a:solidFill>
                <a:latin typeface="+mn-lt"/>
              </a:defRPr>
            </a:pPr>
            <a:endParaRPr lang="en-US"/>
          </a:p>
        </c:txPr>
        <c:crossAx val="2094734552"/>
        <c:crosses val="autoZero"/>
        <c:auto val="1"/>
        <c:lblAlgn val="ctr"/>
        <c:noMultiLvlLbl val="1"/>
      </c:catAx>
      <c:valAx>
        <c:axId val="2094734552"/>
        <c:scaling>
          <c:orientation val="minMax"/>
          <c:max val="1600"/>
          <c:min val="0"/>
        </c:scaling>
        <c:delete val="0"/>
        <c:axPos val="l"/>
        <c:majorGridlines>
          <c:spPr>
            <a:ln w="6350" cap="flat">
              <a:solidFill>
                <a:srgbClr val="E2E6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3F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introduces Reconnaissance Blind Chess, compares it with normal chess, and then presents the uccchess bot: StrangeFish2 whose strategy is chosen by a Generative Reward Machine. The image shows what White actually knows during an RBC game: its own pieces, plus the nine squares it has just sensed.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game itself explained with pictures, a direct comparison with chess, the StrangeFish2 bot that uccchess builds on, the Generative Reward Machine idea, and finally the code and the tournament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game itself. Everything here can be explained with a board and a few highlighted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RBC was designed at JHU/APL as a research testbed. Pieces and moves are exactly chess, but each player only sees its own pieces. The grey squares with question marks are everything White does not know: they may hold a black piece or be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turn has a fixed order. First you are told whether the opponent captured one of your pieces and on which square. Then you choose a square to sense and see the 3 by 3 block around it. Then you request a move and learn what actually happened. The game is won by capturing the opponent's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 senses e6. Inside the orange window it now sees the pawns on d7, f7 and e5 and the knight on f6, and it knows the other five squares of the window are empty. The rest of the board stays unknown. Choosing where to look is half of the skill in RBC.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you do not see the opponent's pieces, the move you ask for is not always the move that happens. Sliding pieces stop at the first hidden piece and capture it. Both players learn something from the result, but not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RBC the concepts of check and checkmate disappear, because a player may not know its king is attacked. The winner is whoever actually captures the other king. Games also end on time, and by draw rules for long sequences without captures or pawn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same position seen as chess and as RBC.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actual position, which both players see in chess. Right: the same position in RBC, from White's side, after it sensed e6. White must decide on a move knowing only its own pieces and these nine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almost the same, but the problem for a program is completely different. A chess engine works on one known position. An RBC program has to keep a whole set of possible positions, choose what to look at, and decide under risk. Stockfish is still useful, but only as a tool for scoring candidate 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RBC's game tree is about as large as Go's, and the uncertainty per decision is much larger than in poker. The 2022 tournament played over nine thousand games. During its games uccchess typically had around twenty boards it could not tell apart. Even the best bots are still exploitable.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uccchess is built on StrangeFish2, the NeurIPS 2022 winner. First, how StrangeFish2 plays.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StrangeFish2 is a multiple-hypothesis tracker. It keeps the complete set of boards consistent with everything it has observed, expanding the set by every possible opponent move and filtering it by each observation. The six boards shown are six of the twenty possibilities after 1.e4. The size of this set is the bot's uncertainty, and we will use it later to recognise opponents.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Sensing and moving are both evaluated over the whole board set. How the scores are combined is controlled by hyperparameters, so the same engine can play aggressively, cautiously or unpredictably. uccchess turns these settings into a small menu of personalities.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named personalities in the code. Mean, worst and best are the weights of a move's average, worst-case and best-case score across the board set; threshold is how many centipawns below the best a move may be and still be chosen; exploration is the UCT constant for sampling moves to evaluate. A 27-point grid over the three key parameters is also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central idea: the Generative Reward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machines make RL much more sample-efficient when the reward has structure, but they rely on reading clear events from the true environment state. RBC belongs to the hard class described in the thesis: the state is hidden and the reward of a single game is too noisy to be stationary.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GRM keeps the reward machine but moves it from the true state to an estimated state that the GRM itself builds. In RBC the observation is the bot's own uncertainty over time, the estimator turns that into an opponent class, and the machine's reward is defined on that class. The goal is an approximately Markovian problem where an exact reward machine is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by component, the GRM is a reward machine whose every element is moved onto the estimated state space. This is what makes the idea usable in problems with poor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bot's own uncertainty behaves differently against different opponents. Each autoencoder learns what a game against one opponent class looks like. During a game, the class whose model reconstructs the trace best is the estimated state of the GRM. The plot uses traces from a short test run of the code, only to illustrate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Algorithm 3 of the thesis. The reward machine has two states: collecting and emit. It only produces a reward after a full batch of games, and that reward is the mean outcome. The Q-value of a class and personality pair is the mean of all its batch rewards, and the policy picks the best personality for each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a game the GRM runs as a small state machine. It plays the default personality while calibrating, then tracks the estimated opponent class, and commits to the learned personality once the estimate is confirmed. Under time pressure it freezes. The table is the real log of one test game: the estimator named level 1 at turn 3, the estimate was confirmed at turn 4 and the bot switched to the cautious personality. The generated reward is the learned Q-value of the current personality for the estimated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what the GRM adds, the same personalities were also learned with plain Q-learning: the state is our own colour and opening, and the reward is a single game. That bot played as srcork. The only differences are the estimated state and the batch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repository and the tournament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organised in four folders. grm_rbc holds the method, scripts the six pipeline steps, uccchess the self-contained tournament bot, and strangefish the vendored StrangeFish2. Conda and pip environments are provided for CUDA 12.2, CUDA 11.4 and CPU, together with a Stockfish installer and an installation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Generate traces, train the estimator, train the GRM policy, evaluate, export the learned choices as explicit hyperparameters into the bot folder, and play. Every training step writes a time-stamped run folder with a model and predictions for every epoch or episode and a running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training script opens with one CONFIG dictionary listing every option with its alternatives. The estimator comes in two versions, one for the older PyTorch on the CUDA 11.4 machine and one for PyTorch 2 on CUDA 12.2. Several GPUs are used through DataParallel. Each epoch's model and predictions are saved, and the script stops if data cannot be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training, the export script resolves the learned table into explicit StrangeFish2 hyperparameters and writes them into the bot folder, together with the estimator. The tournament behaviour is therefore readable and editable in one JSON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Excluding forfeits, the GRM-trained uccchess averaged 1365 Elo against 1190 for the Q-learning bot srcork. The official ratings include forfeits from crashes and connection problems, which the tournament paper notes lowered uccchess's rating to 1025. The code in this repository addresses those failure modes with one process per game, bounded engine memory and server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to remember. RBC is chess with hidden information and very noisy results. The GRM makes reinforcement learning work there by learning on an estimated state with a batch reward. uccchess applies that to choose StrangeFish2's personality against each kind of opponent. The tournament paper, the thesis and the StrangeFish2 code are linked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754880" cy="17373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017520"/>
            <a:ext cx="4754880" cy="11887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217920" cy="12344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3200400"/>
            <a:ext cx="6217920" cy="7315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900" dirty="0">
                <a:solidFill>
                  <a:schemeClr val="accent4"/>
                </a:solidFill>
              </a:rPr>
              <a:t>uccchess  ·  Generative Reward Machines for Reconnaissance Blind Chess</a:t>
            </a:r>
            <a:endParaRPr lang="en-US" sz="9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754880" cy="1737360"/>
          </a:xfrm>
          <a:prstGeom prst="rect">
            <a:avLst/>
          </a:prstGeom>
          <a:noFill/>
          <a:ln/>
        </p:spPr>
        <p:txBody>
          <a:bodyPr wrap="square" lIns="0" tIns="0" rIns="0" bIns="0" rtlCol="0" anchor="b"/>
          <a:lstStyle/>
          <a:p>
            <a:pPr algn="l" indent="0" marL="0">
              <a:buNone/>
            </a:pPr>
            <a:r>
              <a:rPr lang="en-US" sz="3400" b="1" dirty="0">
                <a:solidFill>
                  <a:schemeClr val="bg1"/>
                </a:solidFill>
              </a:rPr>
              <a:t>Generative Reward Machines for Reconnaissance Blind Chess</a:t>
            </a:r>
            <a:endParaRPr lang="en-US" sz="3400" dirty="0"/>
          </a:p>
        </p:txBody>
      </p:sp>
      <p:sp>
        <p:nvSpPr>
          <p:cNvPr id="3" name="Text 0"/>
          <p:cNvSpPr/>
          <p:nvPr>
            <p:ph idx="101" type="body" hasCustomPrompt="1"/>
          </p:nvPr>
        </p:nvSpPr>
        <p:spPr>
          <a:xfrm>
            <a:off x="548640" y="3017520"/>
            <a:ext cx="4754880" cy="1188720"/>
          </a:xfrm>
          <a:prstGeom prst="rect">
            <a:avLst/>
          </a:prstGeom>
          <a:noFill/>
          <a:ln/>
        </p:spPr>
        <p:txBody>
          <a:bodyPr wrap="square" lIns="0" tIns="0" rIns="0" bIns="0" rtlCol="0" anchor="t"/>
          <a:lstStyle/>
          <a:p>
            <a:pPr algn="l" indent="0" marL="0">
              <a:buNone/>
            </a:pPr>
            <a:r>
              <a:rPr lang="en-US" sz="1600" dirty="0">
                <a:solidFill>
                  <a:schemeClr val="bg2"/>
                </a:solidFill>
              </a:rPr>
              <a:t>uccchess: training and implementation of a GRM-driven RBC bot</a:t>
            </a:r>
            <a:endParaRPr lang="en-US" sz="1600" dirty="0"/>
          </a:p>
          <a:p>
            <a:pPr algn="l" indent="0" marL="0">
              <a:buNone/>
            </a:pPr>
            <a:r>
              <a:rPr lang="en-US" sz="1300" dirty="0">
                <a:solidFill>
                  <a:schemeClr val="bg2"/>
                </a:solidFill>
              </a:rPr>
              <a:t>Saeid Rezaei  ·  University College Cork</a:t>
            </a:r>
            <a:endParaRPr lang="en-US" sz="1600" dirty="0"/>
          </a:p>
        </p:txBody>
      </p:sp>
      <p:pic>
        <p:nvPicPr>
          <p:cNvPr id="4" name="rbc_sense" descr="White's view of an RBC game after sensing e6">    </p:cNvPr>
          <p:cNvPicPr>
            <a:picLocks noChangeAspect="1"/>
          </p:cNvPicPr>
          <p:nvPr/>
        </p:nvPicPr>
        <p:blipFill>
          <a:blip r:embed="rId1"/>
          <a:stretch>
            <a:fillRect/>
          </a:stretch>
        </p:blipFill>
        <p:spPr>
          <a:xfrm>
            <a:off x="5623560" y="777240"/>
            <a:ext cx="3543589" cy="3566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What this talk covers</a:t>
            </a:r>
            <a:endParaRPr lang="en-US" sz="2800" dirty="0"/>
          </a:p>
        </p:txBody>
      </p:sp>
      <p:sp>
        <p:nvSpPr>
          <p:cNvPr id="3" name="agenda card"/>
          <p:cNvSpPr/>
          <p:nvPr/>
        </p:nvSpPr>
        <p:spPr>
          <a:xfrm>
            <a:off x="457200" y="1325880"/>
            <a:ext cx="1499616" cy="2926080"/>
          </a:xfrm>
          <a:prstGeom prst="roundRect">
            <a:avLst>
              <a:gd name="adj" fmla="val 487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 name="badge"/>
          <p:cNvSpPr/>
          <p:nvPr/>
        </p:nvSpPr>
        <p:spPr>
          <a:xfrm>
            <a:off x="960120" y="1554480"/>
            <a:ext cx="493776" cy="493776"/>
          </a:xfrm>
          <a:prstGeom prst="ellipse">
            <a:avLst/>
          </a:prstGeom>
          <a:solidFill>
            <a:schemeClr val="tx2"/>
          </a:solidFill>
          <a:ln w="12700">
            <a:solidFill>
              <a:schemeClr val="tx2"/>
            </a:solidFill>
            <a:prstDash val="solid"/>
          </a:ln>
        </p:spPr>
      </p:sp>
      <p:sp>
        <p:nvSpPr>
          <p:cNvPr id="5" name="Text 3"/>
          <p:cNvSpPr txBox="1"/>
          <p:nvPr/>
        </p:nvSpPr>
        <p:spPr>
          <a:xfrm>
            <a:off x="960120" y="155448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594360" y="2286000"/>
            <a:ext cx="1225296" cy="640080"/>
          </a:xfrm>
          <a:prstGeom prst="rect">
            <a:avLst/>
          </a:prstGeom>
          <a:noFill/>
          <a:ln/>
        </p:spPr>
        <p:txBody>
          <a:bodyPr wrap="square" lIns="0" tIns="0" rIns="0" bIns="0" rtlCol="0" anchor="t"/>
          <a:lstStyle/>
          <a:p>
            <a:pPr algn="ctr" indent="0" marL="0">
              <a:buNone/>
            </a:pPr>
            <a:r>
              <a:rPr lang="en-US" sz="1600" b="1" dirty="0">
                <a:solidFill>
                  <a:schemeClr val="tx1"/>
                </a:solidFill>
              </a:rPr>
              <a:t>RBC, simply</a:t>
            </a:r>
            <a:endParaRPr lang="en-US" sz="1600" dirty="0"/>
          </a:p>
        </p:txBody>
      </p:sp>
      <p:sp>
        <p:nvSpPr>
          <p:cNvPr id="7" name="Text 5"/>
          <p:cNvSpPr txBox="1"/>
          <p:nvPr/>
        </p:nvSpPr>
        <p:spPr>
          <a:xfrm>
            <a:off x="594360" y="2971800"/>
            <a:ext cx="1225296" cy="1097280"/>
          </a:xfrm>
          <a:prstGeom prst="rect">
            <a:avLst/>
          </a:prstGeom>
          <a:noFill/>
          <a:ln/>
        </p:spPr>
        <p:txBody>
          <a:bodyPr wrap="square" lIns="0" tIns="0" rIns="0" bIns="0" rtlCol="0" anchor="t"/>
          <a:lstStyle/>
          <a:p>
            <a:pPr algn="ctr" indent="0" marL="0">
              <a:buNone/>
            </a:pPr>
            <a:r>
              <a:rPr lang="en-US" sz="1300" dirty="0">
                <a:solidFill>
                  <a:schemeClr val="accent4"/>
                </a:solidFill>
              </a:rPr>
              <a:t>Chess where you cannot see the opponent</a:t>
            </a:r>
            <a:endParaRPr lang="en-US" sz="1300" dirty="0"/>
          </a:p>
        </p:txBody>
      </p:sp>
      <p:sp>
        <p:nvSpPr>
          <p:cNvPr id="8" name="agenda card"/>
          <p:cNvSpPr/>
          <p:nvPr/>
        </p:nvSpPr>
        <p:spPr>
          <a:xfrm>
            <a:off x="2139696" y="1325880"/>
            <a:ext cx="1499616" cy="2926080"/>
          </a:xfrm>
          <a:prstGeom prst="roundRect">
            <a:avLst>
              <a:gd name="adj" fmla="val 487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9" name="badge"/>
          <p:cNvSpPr/>
          <p:nvPr/>
        </p:nvSpPr>
        <p:spPr>
          <a:xfrm>
            <a:off x="2642616" y="1554480"/>
            <a:ext cx="493776" cy="493776"/>
          </a:xfrm>
          <a:prstGeom prst="ellipse">
            <a:avLst/>
          </a:prstGeom>
          <a:solidFill>
            <a:schemeClr val="tx2"/>
          </a:solidFill>
          <a:ln w="12700">
            <a:solidFill>
              <a:schemeClr val="tx2"/>
            </a:solidFill>
            <a:prstDash val="solid"/>
          </a:ln>
        </p:spPr>
      </p:sp>
      <p:sp>
        <p:nvSpPr>
          <p:cNvPr id="10" name="Text 8"/>
          <p:cNvSpPr txBox="1"/>
          <p:nvPr/>
        </p:nvSpPr>
        <p:spPr>
          <a:xfrm>
            <a:off x="2642616" y="155448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276856" y="2286000"/>
            <a:ext cx="1225296" cy="640080"/>
          </a:xfrm>
          <a:prstGeom prst="rect">
            <a:avLst/>
          </a:prstGeom>
          <a:noFill/>
          <a:ln/>
        </p:spPr>
        <p:txBody>
          <a:bodyPr wrap="square" lIns="0" tIns="0" rIns="0" bIns="0" rtlCol="0" anchor="t"/>
          <a:lstStyle/>
          <a:p>
            <a:pPr algn="ctr" indent="0" marL="0">
              <a:buNone/>
            </a:pPr>
            <a:r>
              <a:rPr lang="en-US" sz="1600" b="1" dirty="0">
                <a:solidFill>
                  <a:schemeClr val="tx1"/>
                </a:solidFill>
              </a:rPr>
              <a:t>Chess vs RBC</a:t>
            </a:r>
            <a:endParaRPr lang="en-US" sz="1600" dirty="0"/>
          </a:p>
        </p:txBody>
      </p:sp>
      <p:sp>
        <p:nvSpPr>
          <p:cNvPr id="12" name="Text 10"/>
          <p:cNvSpPr txBox="1"/>
          <p:nvPr/>
        </p:nvSpPr>
        <p:spPr>
          <a:xfrm>
            <a:off x="2276856" y="2971800"/>
            <a:ext cx="1225296" cy="1097280"/>
          </a:xfrm>
          <a:prstGeom prst="rect">
            <a:avLst/>
          </a:prstGeom>
          <a:noFill/>
          <a:ln/>
        </p:spPr>
        <p:txBody>
          <a:bodyPr wrap="square" lIns="0" tIns="0" rIns="0" bIns="0" rtlCol="0" anchor="t"/>
          <a:lstStyle/>
          <a:p>
            <a:pPr algn="ctr" indent="0" marL="0">
              <a:buNone/>
            </a:pPr>
            <a:r>
              <a:rPr lang="en-US" sz="1300" dirty="0">
                <a:solidFill>
                  <a:schemeClr val="accent4"/>
                </a:solidFill>
              </a:rPr>
              <a:t>Same pieces, very different game</a:t>
            </a:r>
            <a:endParaRPr lang="en-US" sz="1300" dirty="0"/>
          </a:p>
        </p:txBody>
      </p:sp>
      <p:sp>
        <p:nvSpPr>
          <p:cNvPr id="13" name="agenda card"/>
          <p:cNvSpPr/>
          <p:nvPr/>
        </p:nvSpPr>
        <p:spPr>
          <a:xfrm>
            <a:off x="3822192" y="1325880"/>
            <a:ext cx="1499616" cy="2926080"/>
          </a:xfrm>
          <a:prstGeom prst="roundRect">
            <a:avLst>
              <a:gd name="adj" fmla="val 487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4" name="badge"/>
          <p:cNvSpPr/>
          <p:nvPr/>
        </p:nvSpPr>
        <p:spPr>
          <a:xfrm>
            <a:off x="4325112" y="1554480"/>
            <a:ext cx="493776" cy="493776"/>
          </a:xfrm>
          <a:prstGeom prst="ellipse">
            <a:avLst/>
          </a:prstGeom>
          <a:solidFill>
            <a:schemeClr val="tx2"/>
          </a:solidFill>
          <a:ln w="12700">
            <a:solidFill>
              <a:schemeClr val="tx2"/>
            </a:solidFill>
            <a:prstDash val="solid"/>
          </a:ln>
        </p:spPr>
      </p:sp>
      <p:sp>
        <p:nvSpPr>
          <p:cNvPr id="15" name="Text 13"/>
          <p:cNvSpPr txBox="1"/>
          <p:nvPr/>
        </p:nvSpPr>
        <p:spPr>
          <a:xfrm>
            <a:off x="4325112" y="155448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3959352" y="2286000"/>
            <a:ext cx="1225296" cy="640080"/>
          </a:xfrm>
          <a:prstGeom prst="rect">
            <a:avLst/>
          </a:prstGeom>
          <a:noFill/>
          <a:ln/>
        </p:spPr>
        <p:txBody>
          <a:bodyPr wrap="square" lIns="0" tIns="0" rIns="0" bIns="0" rtlCol="0" anchor="t"/>
          <a:lstStyle/>
          <a:p>
            <a:pPr algn="ctr" indent="0" marL="0">
              <a:buNone/>
            </a:pPr>
            <a:r>
              <a:rPr lang="en-US" sz="1600" b="1" dirty="0">
                <a:solidFill>
                  <a:schemeClr val="tx1"/>
                </a:solidFill>
              </a:rPr>
              <a:t>The bot</a:t>
            </a:r>
            <a:endParaRPr lang="en-US" sz="1600" dirty="0"/>
          </a:p>
        </p:txBody>
      </p:sp>
      <p:sp>
        <p:nvSpPr>
          <p:cNvPr id="17" name="Text 15"/>
          <p:cNvSpPr txBox="1"/>
          <p:nvPr/>
        </p:nvSpPr>
        <p:spPr>
          <a:xfrm>
            <a:off x="3959352" y="2971800"/>
            <a:ext cx="1225296" cy="1097280"/>
          </a:xfrm>
          <a:prstGeom prst="rect">
            <a:avLst/>
          </a:prstGeom>
          <a:noFill/>
          <a:ln/>
        </p:spPr>
        <p:txBody>
          <a:bodyPr wrap="square" lIns="0" tIns="0" rIns="0" bIns="0" rtlCol="0" anchor="t"/>
          <a:lstStyle/>
          <a:p>
            <a:pPr algn="ctr" indent="0" marL="0">
              <a:buNone/>
            </a:pPr>
            <a:r>
              <a:rPr lang="en-US" sz="1300" dirty="0">
                <a:solidFill>
                  <a:schemeClr val="accent4"/>
                </a:solidFill>
              </a:rPr>
              <a:t>StrangeFish2 tracks every possible board</a:t>
            </a:r>
            <a:endParaRPr lang="en-US" sz="1300" dirty="0"/>
          </a:p>
        </p:txBody>
      </p:sp>
      <p:sp>
        <p:nvSpPr>
          <p:cNvPr id="18" name="agenda card"/>
          <p:cNvSpPr/>
          <p:nvPr/>
        </p:nvSpPr>
        <p:spPr>
          <a:xfrm>
            <a:off x="5504688" y="1325880"/>
            <a:ext cx="1499616" cy="2926080"/>
          </a:xfrm>
          <a:prstGeom prst="roundRect">
            <a:avLst>
              <a:gd name="adj" fmla="val 487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9" name="badge"/>
          <p:cNvSpPr/>
          <p:nvPr/>
        </p:nvSpPr>
        <p:spPr>
          <a:xfrm>
            <a:off x="6007608" y="1554480"/>
            <a:ext cx="493776" cy="493776"/>
          </a:xfrm>
          <a:prstGeom prst="ellipse">
            <a:avLst/>
          </a:prstGeom>
          <a:solidFill>
            <a:schemeClr val="tx2"/>
          </a:solidFill>
          <a:ln w="12700">
            <a:solidFill>
              <a:schemeClr val="tx2"/>
            </a:solidFill>
            <a:prstDash val="solid"/>
          </a:ln>
        </p:spPr>
      </p:sp>
      <p:sp>
        <p:nvSpPr>
          <p:cNvPr id="20" name="Text 18"/>
          <p:cNvSpPr txBox="1"/>
          <p:nvPr/>
        </p:nvSpPr>
        <p:spPr>
          <a:xfrm>
            <a:off x="6007608" y="155448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5641848" y="2286000"/>
            <a:ext cx="1225296" cy="640080"/>
          </a:xfrm>
          <a:prstGeom prst="rect">
            <a:avLst/>
          </a:prstGeom>
          <a:noFill/>
          <a:ln/>
        </p:spPr>
        <p:txBody>
          <a:bodyPr wrap="square" lIns="0" tIns="0" rIns="0" bIns="0" rtlCol="0" anchor="t"/>
          <a:lstStyle/>
          <a:p>
            <a:pPr algn="ctr" indent="0" marL="0">
              <a:buNone/>
            </a:pPr>
            <a:r>
              <a:rPr lang="en-US" sz="1600" b="1" dirty="0">
                <a:solidFill>
                  <a:schemeClr val="tx1"/>
                </a:solidFill>
              </a:rPr>
              <a:t>The GRM</a:t>
            </a:r>
            <a:endParaRPr lang="en-US" sz="1600" dirty="0"/>
          </a:p>
        </p:txBody>
      </p:sp>
      <p:sp>
        <p:nvSpPr>
          <p:cNvPr id="22" name="Text 20"/>
          <p:cNvSpPr txBox="1"/>
          <p:nvPr/>
        </p:nvSpPr>
        <p:spPr>
          <a:xfrm>
            <a:off x="5641848" y="2971800"/>
            <a:ext cx="1225296" cy="1097280"/>
          </a:xfrm>
          <a:prstGeom prst="rect">
            <a:avLst/>
          </a:prstGeom>
          <a:noFill/>
          <a:ln/>
        </p:spPr>
        <p:txBody>
          <a:bodyPr wrap="square" lIns="0" tIns="0" rIns="0" bIns="0" rtlCol="0" anchor="t"/>
          <a:lstStyle/>
          <a:p>
            <a:pPr algn="ctr" indent="0" marL="0">
              <a:buNone/>
            </a:pPr>
            <a:r>
              <a:rPr lang="en-US" sz="1300" dirty="0">
                <a:solidFill>
                  <a:schemeClr val="accent4"/>
                </a:solidFill>
              </a:rPr>
              <a:t>Rewards on an estimated state</a:t>
            </a:r>
            <a:endParaRPr lang="en-US" sz="1300" dirty="0"/>
          </a:p>
        </p:txBody>
      </p:sp>
      <p:sp>
        <p:nvSpPr>
          <p:cNvPr id="23" name="agenda card"/>
          <p:cNvSpPr/>
          <p:nvPr/>
        </p:nvSpPr>
        <p:spPr>
          <a:xfrm>
            <a:off x="7187184" y="1325880"/>
            <a:ext cx="1499616" cy="2926080"/>
          </a:xfrm>
          <a:prstGeom prst="roundRect">
            <a:avLst>
              <a:gd name="adj" fmla="val 487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24" name="badge"/>
          <p:cNvSpPr/>
          <p:nvPr/>
        </p:nvSpPr>
        <p:spPr>
          <a:xfrm>
            <a:off x="7690104" y="1554480"/>
            <a:ext cx="493776" cy="493776"/>
          </a:xfrm>
          <a:prstGeom prst="ellipse">
            <a:avLst/>
          </a:prstGeom>
          <a:solidFill>
            <a:schemeClr val="tx2"/>
          </a:solidFill>
          <a:ln w="12700">
            <a:solidFill>
              <a:schemeClr val="tx2"/>
            </a:solidFill>
            <a:prstDash val="solid"/>
          </a:ln>
        </p:spPr>
      </p:sp>
      <p:sp>
        <p:nvSpPr>
          <p:cNvPr id="25" name="Text 23"/>
          <p:cNvSpPr txBox="1"/>
          <p:nvPr/>
        </p:nvSpPr>
        <p:spPr>
          <a:xfrm>
            <a:off x="7690104" y="155448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7324344" y="2286000"/>
            <a:ext cx="1225296" cy="640080"/>
          </a:xfrm>
          <a:prstGeom prst="rect">
            <a:avLst/>
          </a:prstGeom>
          <a:noFill/>
          <a:ln/>
        </p:spPr>
        <p:txBody>
          <a:bodyPr wrap="square" lIns="0" tIns="0" rIns="0" bIns="0" rtlCol="0" anchor="t"/>
          <a:lstStyle/>
          <a:p>
            <a:pPr algn="ctr" indent="0" marL="0">
              <a:buNone/>
            </a:pPr>
            <a:r>
              <a:rPr lang="en-US" sz="1600" b="1" dirty="0">
                <a:solidFill>
                  <a:schemeClr val="tx1"/>
                </a:solidFill>
              </a:rPr>
              <a:t>Code and results</a:t>
            </a:r>
            <a:endParaRPr lang="en-US" sz="1600" dirty="0"/>
          </a:p>
        </p:txBody>
      </p:sp>
      <p:sp>
        <p:nvSpPr>
          <p:cNvPr id="27" name="Text 25"/>
          <p:cNvSpPr txBox="1"/>
          <p:nvPr/>
        </p:nvSpPr>
        <p:spPr>
          <a:xfrm>
            <a:off x="7324344" y="2971800"/>
            <a:ext cx="1225296" cy="1097280"/>
          </a:xfrm>
          <a:prstGeom prst="rect">
            <a:avLst/>
          </a:prstGeom>
          <a:noFill/>
          <a:ln/>
        </p:spPr>
        <p:txBody>
          <a:bodyPr wrap="square" lIns="0" tIns="0" rIns="0" bIns="0" rtlCol="0" anchor="t"/>
          <a:lstStyle/>
          <a:p>
            <a:pPr algn="ctr" indent="0" marL="0">
              <a:buNone/>
            </a:pPr>
            <a:r>
              <a:rPr lang="en-US" sz="1300" dirty="0">
                <a:solidFill>
                  <a:schemeClr val="accent4"/>
                </a:solidFill>
              </a:rPr>
              <a:t>Pipeline, tournament bot, NeurIPS 2022</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217920" cy="1234440"/>
          </a:xfrm>
          <a:prstGeom prst="rect">
            <a:avLst/>
          </a:prstGeom>
          <a:noFill/>
          <a:ln/>
        </p:spPr>
        <p:txBody>
          <a:bodyPr wrap="square" lIns="0" tIns="0" rIns="0" bIns="0" rtlCol="0" anchor="b"/>
          <a:lstStyle/>
          <a:p>
            <a:pPr algn="l" indent="0" marL="0">
              <a:buNone/>
            </a:pPr>
            <a:r>
              <a:rPr lang="en-US" sz="3600" b="1" dirty="0">
                <a:solidFill>
                  <a:schemeClr val="bg1"/>
                </a:solidFill>
              </a:rPr>
              <a:t>Reconnaissance Blind Chess, simply</a:t>
            </a:r>
            <a:endParaRPr lang="en-US" sz="3600" dirty="0"/>
          </a:p>
        </p:txBody>
      </p:sp>
      <p:sp>
        <p:nvSpPr>
          <p:cNvPr id="3" name="Text 0"/>
          <p:cNvSpPr/>
          <p:nvPr>
            <p:ph idx="101" type="body" hasCustomPrompt="1"/>
          </p:nvPr>
        </p:nvSpPr>
        <p:spPr>
          <a:xfrm>
            <a:off x="548640" y="3200400"/>
            <a:ext cx="6217920" cy="731520"/>
          </a:xfrm>
          <a:prstGeom prst="rect">
            <a:avLst/>
          </a:prstGeom>
          <a:noFill/>
          <a:ln/>
        </p:spPr>
        <p:txBody>
          <a:bodyPr wrap="square" lIns="0" tIns="0" rIns="0" bIns="0" rtlCol="0" anchor="t"/>
          <a:lstStyle/>
          <a:p>
            <a:pPr algn="l" indent="0" marL="0">
              <a:buNone/>
            </a:pPr>
            <a:r>
              <a:rPr lang="en-US" sz="1600" dirty="0">
                <a:solidFill>
                  <a:schemeClr val="bg2"/>
                </a:solidFill>
              </a:rPr>
              <a:t>The rules in four pictures</a:t>
            </a:r>
            <a:endParaRPr lang="en-US" sz="1600" dirty="0"/>
          </a:p>
        </p:txBody>
      </p:sp>
      <p:sp>
        <p:nvSpPr>
          <p:cNvPr id="4" name="badge"/>
          <p:cNvSpPr/>
          <p:nvPr/>
        </p:nvSpPr>
        <p:spPr>
          <a:xfrm>
            <a:off x="548640" y="1005840"/>
            <a:ext cx="566928" cy="566928"/>
          </a:xfrm>
          <a:prstGeom prst="ellipse">
            <a:avLst/>
          </a:prstGeom>
          <a:solidFill>
            <a:schemeClr val="accent2"/>
          </a:solidFill>
          <a:ln w="12700">
            <a:solidFill>
              <a:schemeClr val="accent2"/>
            </a:solidFill>
            <a:prstDash val="solid"/>
          </a:ln>
        </p:spPr>
      </p:sp>
      <p:sp>
        <p:nvSpPr>
          <p:cNvPr id="5" name="Text 3"/>
          <p:cNvSpPr txBox="1"/>
          <p:nvPr/>
        </p:nvSpPr>
        <p:spPr>
          <a:xfrm>
            <a:off x="548640" y="1005840"/>
            <a:ext cx="566928" cy="566928"/>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Chess where you cannot see your opponent</a:t>
            </a:r>
            <a:endParaRPr lang="en-US" sz="2800" dirty="0"/>
          </a:p>
        </p:txBody>
      </p:sp>
      <p:pic>
        <p:nvPicPr>
          <p:cNvPr id="3" name="rbc_hidden" descr="White sees only its own pieces; every other square is unknown">    </p:cNvPr>
          <p:cNvPicPr>
            <a:picLocks noChangeAspect="1"/>
          </p:cNvPicPr>
          <p:nvPr/>
        </p:nvPicPr>
        <p:blipFill>
          <a:blip r:embed="rId1"/>
          <a:stretch>
            <a:fillRect/>
          </a:stretch>
        </p:blipFill>
        <p:spPr>
          <a:xfrm>
            <a:off x="457200" y="1051560"/>
            <a:ext cx="3543589" cy="3566160"/>
          </a:xfrm>
          <a:prstGeom prst="rect">
            <a:avLst/>
          </a:prstGeom>
        </p:spPr>
      </p:pic>
      <p:sp>
        <p:nvSpPr>
          <p:cNvPr id="4" name="badge"/>
          <p:cNvSpPr/>
          <p:nvPr/>
        </p:nvSpPr>
        <p:spPr>
          <a:xfrm>
            <a:off x="4434840" y="1188720"/>
            <a:ext cx="530352" cy="530352"/>
          </a:xfrm>
          <a:prstGeom prst="ellipse">
            <a:avLst/>
          </a:prstGeom>
          <a:solidFill>
            <a:schemeClr val="accent1"/>
          </a:solidFill>
          <a:ln w="12700">
            <a:solidFill>
              <a:schemeClr val="accent1"/>
            </a:solidFill>
            <a:prstDash val="solid"/>
          </a:ln>
        </p:spPr>
      </p:sp>
      <p:sp>
        <p:nvSpPr>
          <p:cNvPr id="5" name="Text 2"/>
          <p:cNvSpPr txBox="1"/>
          <p:nvPr/>
        </p:nvSpPr>
        <p:spPr>
          <a:xfrm>
            <a:off x="4434840" y="1188720"/>
            <a:ext cx="530352" cy="53035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Text 3"/>
          <p:cNvSpPr txBox="1"/>
          <p:nvPr/>
        </p:nvSpPr>
        <p:spPr>
          <a:xfrm>
            <a:off x="5166360" y="1170432"/>
            <a:ext cx="3520440" cy="329184"/>
          </a:xfrm>
          <a:prstGeom prst="rect">
            <a:avLst/>
          </a:prstGeom>
          <a:noFill/>
          <a:ln/>
        </p:spPr>
        <p:txBody>
          <a:bodyPr wrap="square" lIns="0" tIns="0" rIns="0" bIns="0" rtlCol="0" anchor="t"/>
          <a:lstStyle/>
          <a:p>
            <a:pPr indent="0" marL="0">
              <a:buNone/>
            </a:pPr>
            <a:r>
              <a:rPr lang="en-US" sz="1700" b="1" dirty="0">
                <a:solidFill>
                  <a:schemeClr val="tx1"/>
                </a:solidFill>
              </a:rPr>
              <a:t>Same pieces, same moves</a:t>
            </a:r>
            <a:endParaRPr lang="en-US" sz="1700" dirty="0"/>
          </a:p>
        </p:txBody>
      </p:sp>
      <p:sp>
        <p:nvSpPr>
          <p:cNvPr id="7" name="Text 4"/>
          <p:cNvSpPr txBox="1"/>
          <p:nvPr/>
        </p:nvSpPr>
        <p:spPr>
          <a:xfrm>
            <a:off x="5166360" y="1517904"/>
            <a:ext cx="3520440" cy="640080"/>
          </a:xfrm>
          <a:prstGeom prst="rect">
            <a:avLst/>
          </a:prstGeom>
          <a:noFill/>
          <a:ln/>
        </p:spPr>
        <p:txBody>
          <a:bodyPr wrap="square" lIns="0" tIns="0" rIns="0" bIns="0" rtlCol="0" anchor="t"/>
          <a:lstStyle/>
          <a:p>
            <a:pPr indent="0" marL="0">
              <a:buNone/>
            </a:pPr>
            <a:r>
              <a:rPr lang="en-US" sz="1400" dirty="0">
                <a:solidFill>
                  <a:schemeClr val="accent4"/>
                </a:solidFill>
              </a:rPr>
              <a:t>Board, pieces and movement rules are those of chess.</a:t>
            </a:r>
            <a:endParaRPr lang="en-US" sz="1400" dirty="0"/>
          </a:p>
        </p:txBody>
      </p:sp>
      <p:sp>
        <p:nvSpPr>
          <p:cNvPr id="8" name="badge"/>
          <p:cNvSpPr/>
          <p:nvPr/>
        </p:nvSpPr>
        <p:spPr>
          <a:xfrm>
            <a:off x="4434840" y="2304288"/>
            <a:ext cx="530352" cy="530352"/>
          </a:xfrm>
          <a:prstGeom prst="ellipse">
            <a:avLst/>
          </a:prstGeom>
          <a:solidFill>
            <a:schemeClr val="accent1"/>
          </a:solidFill>
          <a:ln w="12700">
            <a:solidFill>
              <a:schemeClr val="accent1"/>
            </a:solidFill>
            <a:prstDash val="solid"/>
          </a:ln>
        </p:spPr>
      </p:sp>
      <p:sp>
        <p:nvSpPr>
          <p:cNvPr id="9" name="Text 6"/>
          <p:cNvSpPr txBox="1"/>
          <p:nvPr/>
        </p:nvSpPr>
        <p:spPr>
          <a:xfrm>
            <a:off x="4434840" y="2304288"/>
            <a:ext cx="530352" cy="53035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Text 7"/>
          <p:cNvSpPr txBox="1"/>
          <p:nvPr/>
        </p:nvSpPr>
        <p:spPr>
          <a:xfrm>
            <a:off x="5166360" y="2286000"/>
            <a:ext cx="3520440" cy="329184"/>
          </a:xfrm>
          <a:prstGeom prst="rect">
            <a:avLst/>
          </a:prstGeom>
          <a:noFill/>
          <a:ln/>
        </p:spPr>
        <p:txBody>
          <a:bodyPr wrap="square" lIns="0" tIns="0" rIns="0" bIns="0" rtlCol="0" anchor="t"/>
          <a:lstStyle/>
          <a:p>
            <a:pPr indent="0" marL="0">
              <a:buNone/>
            </a:pPr>
            <a:r>
              <a:rPr lang="en-US" sz="1700" b="1" dirty="0">
                <a:solidFill>
                  <a:schemeClr val="tx1"/>
                </a:solidFill>
              </a:rPr>
              <a:t>Opponent's pieces are hidden</a:t>
            </a:r>
            <a:endParaRPr lang="en-US" sz="1700" dirty="0"/>
          </a:p>
        </p:txBody>
      </p:sp>
      <p:sp>
        <p:nvSpPr>
          <p:cNvPr id="11" name="Text 8"/>
          <p:cNvSpPr txBox="1"/>
          <p:nvPr/>
        </p:nvSpPr>
        <p:spPr>
          <a:xfrm>
            <a:off x="5166360" y="2633472"/>
            <a:ext cx="3520440" cy="640080"/>
          </a:xfrm>
          <a:prstGeom prst="rect">
            <a:avLst/>
          </a:prstGeom>
          <a:noFill/>
          <a:ln/>
        </p:spPr>
        <p:txBody>
          <a:bodyPr wrap="square" lIns="0" tIns="0" rIns="0" bIns="0" rtlCol="0" anchor="t"/>
          <a:lstStyle/>
          <a:p>
            <a:pPr indent="0" marL="0">
              <a:buNone/>
            </a:pPr>
            <a:r>
              <a:rPr lang="en-US" sz="1400" dirty="0">
                <a:solidFill>
                  <a:schemeClr val="accent4"/>
                </a:solidFill>
              </a:rPr>
              <a:t>You see your own pieces only. Every other square is unknown.</a:t>
            </a:r>
            <a:endParaRPr lang="en-US" sz="1400" dirty="0"/>
          </a:p>
        </p:txBody>
      </p:sp>
      <p:sp>
        <p:nvSpPr>
          <p:cNvPr id="12" name="badge"/>
          <p:cNvSpPr/>
          <p:nvPr/>
        </p:nvSpPr>
        <p:spPr>
          <a:xfrm>
            <a:off x="4434840" y="3419856"/>
            <a:ext cx="530352" cy="530352"/>
          </a:xfrm>
          <a:prstGeom prst="ellipse">
            <a:avLst/>
          </a:prstGeom>
          <a:solidFill>
            <a:schemeClr val="accent1"/>
          </a:solidFill>
          <a:ln w="12700">
            <a:solidFill>
              <a:schemeClr val="accent1"/>
            </a:solidFill>
            <a:prstDash val="solid"/>
          </a:ln>
        </p:spPr>
      </p:sp>
      <p:sp>
        <p:nvSpPr>
          <p:cNvPr id="13" name="Text 10"/>
          <p:cNvSpPr txBox="1"/>
          <p:nvPr/>
        </p:nvSpPr>
        <p:spPr>
          <a:xfrm>
            <a:off x="4434840" y="3419856"/>
            <a:ext cx="530352" cy="53035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Text 11"/>
          <p:cNvSpPr txBox="1"/>
          <p:nvPr/>
        </p:nvSpPr>
        <p:spPr>
          <a:xfrm>
            <a:off x="5166360" y="3401568"/>
            <a:ext cx="3520440" cy="329184"/>
          </a:xfrm>
          <a:prstGeom prst="rect">
            <a:avLst/>
          </a:prstGeom>
          <a:noFill/>
          <a:ln/>
        </p:spPr>
        <p:txBody>
          <a:bodyPr wrap="square" lIns="0" tIns="0" rIns="0" bIns="0" rtlCol="0" anchor="t"/>
          <a:lstStyle/>
          <a:p>
            <a:pPr indent="0" marL="0">
              <a:buNone/>
            </a:pPr>
            <a:r>
              <a:rPr lang="en-US" sz="1700" b="1" dirty="0">
                <a:solidFill>
                  <a:schemeClr val="tx1"/>
                </a:solidFill>
              </a:rPr>
              <a:t>Peek, then move</a:t>
            </a:r>
            <a:endParaRPr lang="en-US" sz="1700" dirty="0"/>
          </a:p>
        </p:txBody>
      </p:sp>
      <p:sp>
        <p:nvSpPr>
          <p:cNvPr id="15" name="Text 12"/>
          <p:cNvSpPr txBox="1"/>
          <p:nvPr/>
        </p:nvSpPr>
        <p:spPr>
          <a:xfrm>
            <a:off x="5166360" y="3749040"/>
            <a:ext cx="3520440" cy="640080"/>
          </a:xfrm>
          <a:prstGeom prst="rect">
            <a:avLst/>
          </a:prstGeom>
          <a:noFill/>
          <a:ln/>
        </p:spPr>
        <p:txBody>
          <a:bodyPr wrap="square" lIns="0" tIns="0" rIns="0" bIns="0" rtlCol="0" anchor="t"/>
          <a:lstStyle/>
          <a:p>
            <a:pPr indent="0" marL="0">
              <a:buNone/>
            </a:pPr>
            <a:r>
              <a:rPr lang="en-US" sz="1400" dirty="0">
                <a:solidFill>
                  <a:schemeClr val="accent4"/>
                </a:solidFill>
              </a:rPr>
              <a:t>Each turn you look at one 3×3 window of the board, then make a move.</a:t>
            </a:r>
            <a:endParaRPr lang="en-US" sz="1400" dirty="0"/>
          </a:p>
        </p:txBody>
      </p:sp>
      <p:sp>
        <p:nvSpPr>
          <p:cNvPr id="16" name="Text 13"/>
          <p:cNvSpPr txBox="1"/>
          <p:nvPr/>
        </p:nvSpPr>
        <p:spPr>
          <a:xfrm>
            <a:off x="4434840" y="4407408"/>
            <a:ext cx="4251960" cy="329184"/>
          </a:xfrm>
          <a:prstGeom prst="rect">
            <a:avLst/>
          </a:prstGeom>
          <a:noFill/>
          <a:ln/>
        </p:spPr>
        <p:txBody>
          <a:bodyPr wrap="square" lIns="0" tIns="0" rIns="0" bIns="0" rtlCol="0" anchor="t"/>
          <a:lstStyle/>
          <a:p>
            <a:pPr indent="0" marL="0">
              <a:buNone/>
            </a:pPr>
            <a:r>
              <a:rPr lang="en-US" sz="1000" i="1" dirty="0">
                <a:solidFill>
                  <a:schemeClr val="accent4"/>
                </a:solidFill>
              </a:rPr>
              <a:t>Created at the Johns Hopkins University Applied Physics Laboratory (2016) as a testbed for decisions under uncertainty.</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One turn in RBC</a:t>
            </a:r>
            <a:endParaRPr lang="en-US" sz="2800" dirty="0"/>
          </a:p>
        </p:txBody>
      </p:sp>
      <p:sp>
        <p:nvSpPr>
          <p:cNvPr id="3" name="turn step"/>
          <p:cNvSpPr/>
          <p:nvPr/>
        </p:nvSpPr>
        <p:spPr>
          <a:xfrm>
            <a:off x="457200" y="1097280"/>
            <a:ext cx="1938528" cy="3520440"/>
          </a:xfrm>
          <a:prstGeom prst="roundRect">
            <a:avLst>
              <a:gd name="adj" fmla="val 3774"/>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4" name="rbc_capture" descr="1  Captures">    </p:cNvPr>
          <p:cNvPicPr>
            <a:picLocks noChangeAspect="1"/>
          </p:cNvPicPr>
          <p:nvPr/>
        </p:nvPicPr>
        <p:blipFill>
          <a:blip r:embed="rId1"/>
          <a:stretch>
            <a:fillRect/>
          </a:stretch>
        </p:blipFill>
        <p:spPr>
          <a:xfrm>
            <a:off x="612648" y="1216152"/>
            <a:ext cx="1599158" cy="1609344"/>
          </a:xfrm>
          <a:prstGeom prst="rect">
            <a:avLst/>
          </a:prstGeom>
        </p:spPr>
      </p:pic>
      <p:sp>
        <p:nvSpPr>
          <p:cNvPr id="5" name="Text 2"/>
          <p:cNvSpPr txBox="1"/>
          <p:nvPr/>
        </p:nvSpPr>
        <p:spPr>
          <a:xfrm>
            <a:off x="594360" y="2926080"/>
            <a:ext cx="1691640" cy="365760"/>
          </a:xfrm>
          <a:prstGeom prst="rect">
            <a:avLst/>
          </a:prstGeom>
          <a:noFill/>
          <a:ln/>
        </p:spPr>
        <p:txBody>
          <a:bodyPr wrap="square" lIns="0" tIns="0" rIns="0" bIns="0" rtlCol="0" anchor="t"/>
          <a:lstStyle/>
          <a:p>
            <a:pPr indent="0" marL="0">
              <a:buNone/>
            </a:pPr>
            <a:r>
              <a:rPr lang="en-US" sz="1500" b="1" dirty="0">
                <a:solidFill>
                  <a:schemeClr val="tx1"/>
                </a:solidFill>
              </a:rPr>
              <a:t>1  Captures</a:t>
            </a:r>
            <a:endParaRPr lang="en-US" sz="1500" dirty="0"/>
          </a:p>
        </p:txBody>
      </p:sp>
      <p:sp>
        <p:nvSpPr>
          <p:cNvPr id="6" name="Text 3"/>
          <p:cNvSpPr txBox="1"/>
          <p:nvPr/>
        </p:nvSpPr>
        <p:spPr>
          <a:xfrm>
            <a:off x="594360" y="3310128"/>
            <a:ext cx="1691640" cy="1188720"/>
          </a:xfrm>
          <a:prstGeom prst="rect">
            <a:avLst/>
          </a:prstGeom>
          <a:noFill/>
          <a:ln/>
        </p:spPr>
        <p:txBody>
          <a:bodyPr wrap="square" lIns="0" tIns="0" rIns="0" bIns="0" rtlCol="0" anchor="t"/>
          <a:lstStyle/>
          <a:p>
            <a:pPr indent="0" marL="0">
              <a:buNone/>
            </a:pPr>
            <a:r>
              <a:rPr lang="en-US" sz="1300" dirty="0">
                <a:solidFill>
                  <a:schemeClr val="accent4"/>
                </a:solidFill>
              </a:rPr>
              <a:t>Told only where one of your pieces was taken, not by what.</a:t>
            </a:r>
            <a:endParaRPr lang="en-US" sz="1300" dirty="0"/>
          </a:p>
        </p:txBody>
      </p:sp>
      <p:sp>
        <p:nvSpPr>
          <p:cNvPr id="7" name="arrow"/>
          <p:cNvSpPr/>
          <p:nvPr/>
        </p:nvSpPr>
        <p:spPr>
          <a:xfrm>
            <a:off x="2404872" y="1874520"/>
            <a:ext cx="164592" cy="292608"/>
          </a:xfrm>
          <a:prstGeom prst="rightArrow">
            <a:avLst/>
          </a:prstGeom>
          <a:solidFill>
            <a:schemeClr val="accent2"/>
          </a:solidFill>
          <a:ln w="12700">
            <a:solidFill>
              <a:schemeClr val="accent2"/>
            </a:solidFill>
            <a:prstDash val="solid"/>
          </a:ln>
        </p:spPr>
      </p:sp>
      <p:sp>
        <p:nvSpPr>
          <p:cNvPr id="8" name="turn step"/>
          <p:cNvSpPr/>
          <p:nvPr/>
        </p:nvSpPr>
        <p:spPr>
          <a:xfrm>
            <a:off x="2578608" y="1097280"/>
            <a:ext cx="1938528" cy="3520440"/>
          </a:xfrm>
          <a:prstGeom prst="roundRect">
            <a:avLst>
              <a:gd name="adj" fmla="val 3774"/>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9" name="rbc_sense" descr="2  Sense">    </p:cNvPr>
          <p:cNvPicPr>
            <a:picLocks noChangeAspect="1"/>
          </p:cNvPicPr>
          <p:nvPr/>
        </p:nvPicPr>
        <p:blipFill>
          <a:blip r:embed="rId2"/>
          <a:stretch>
            <a:fillRect/>
          </a:stretch>
        </p:blipFill>
        <p:spPr>
          <a:xfrm>
            <a:off x="2734056" y="1216152"/>
            <a:ext cx="1599158" cy="1609344"/>
          </a:xfrm>
          <a:prstGeom prst="rect">
            <a:avLst/>
          </a:prstGeom>
        </p:spPr>
      </p:pic>
      <p:sp>
        <p:nvSpPr>
          <p:cNvPr id="10" name="Text 6"/>
          <p:cNvSpPr txBox="1"/>
          <p:nvPr/>
        </p:nvSpPr>
        <p:spPr>
          <a:xfrm>
            <a:off x="2715768" y="2926080"/>
            <a:ext cx="1691640" cy="365760"/>
          </a:xfrm>
          <a:prstGeom prst="rect">
            <a:avLst/>
          </a:prstGeom>
          <a:noFill/>
          <a:ln/>
        </p:spPr>
        <p:txBody>
          <a:bodyPr wrap="square" lIns="0" tIns="0" rIns="0" bIns="0" rtlCol="0" anchor="t"/>
          <a:lstStyle/>
          <a:p>
            <a:pPr indent="0" marL="0">
              <a:buNone/>
            </a:pPr>
            <a:r>
              <a:rPr lang="en-US" sz="1500" b="1" dirty="0">
                <a:solidFill>
                  <a:schemeClr val="tx1"/>
                </a:solidFill>
              </a:rPr>
              <a:t>2  Sense</a:t>
            </a:r>
            <a:endParaRPr lang="en-US" sz="1500" dirty="0"/>
          </a:p>
        </p:txBody>
      </p:sp>
      <p:sp>
        <p:nvSpPr>
          <p:cNvPr id="11" name="Text 7"/>
          <p:cNvSpPr txBox="1"/>
          <p:nvPr/>
        </p:nvSpPr>
        <p:spPr>
          <a:xfrm>
            <a:off x="2715768" y="3310128"/>
            <a:ext cx="1691640" cy="1188720"/>
          </a:xfrm>
          <a:prstGeom prst="rect">
            <a:avLst/>
          </a:prstGeom>
          <a:noFill/>
          <a:ln/>
        </p:spPr>
        <p:txBody>
          <a:bodyPr wrap="square" lIns="0" tIns="0" rIns="0" bIns="0" rtlCol="0" anchor="t"/>
          <a:lstStyle/>
          <a:p>
            <a:pPr indent="0" marL="0">
              <a:buNone/>
            </a:pPr>
            <a:r>
              <a:rPr lang="en-US" sz="1300" dirty="0">
                <a:solidFill>
                  <a:schemeClr val="accent4"/>
                </a:solidFill>
              </a:rPr>
              <a:t>Pick any square; see the nine squares around it.</a:t>
            </a:r>
            <a:endParaRPr lang="en-US" sz="1300" dirty="0"/>
          </a:p>
        </p:txBody>
      </p:sp>
      <p:sp>
        <p:nvSpPr>
          <p:cNvPr id="12" name="arrow"/>
          <p:cNvSpPr/>
          <p:nvPr/>
        </p:nvSpPr>
        <p:spPr>
          <a:xfrm>
            <a:off x="4526280" y="1874520"/>
            <a:ext cx="164592" cy="292608"/>
          </a:xfrm>
          <a:prstGeom prst="rightArrow">
            <a:avLst/>
          </a:prstGeom>
          <a:solidFill>
            <a:schemeClr val="accent2"/>
          </a:solidFill>
          <a:ln w="12700">
            <a:solidFill>
              <a:schemeClr val="accent2"/>
            </a:solidFill>
            <a:prstDash val="solid"/>
          </a:ln>
        </p:spPr>
      </p:sp>
      <p:sp>
        <p:nvSpPr>
          <p:cNvPr id="13" name="turn step"/>
          <p:cNvSpPr/>
          <p:nvPr/>
        </p:nvSpPr>
        <p:spPr>
          <a:xfrm>
            <a:off x="4700016" y="1097280"/>
            <a:ext cx="1938528" cy="3520440"/>
          </a:xfrm>
          <a:prstGeom prst="roundRect">
            <a:avLst>
              <a:gd name="adj" fmla="val 3774"/>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4" name="rbc_blocked" descr="3  Move">    </p:cNvPr>
          <p:cNvPicPr>
            <a:picLocks noChangeAspect="1"/>
          </p:cNvPicPr>
          <p:nvPr/>
        </p:nvPicPr>
        <p:blipFill>
          <a:blip r:embed="rId3"/>
          <a:stretch>
            <a:fillRect/>
          </a:stretch>
        </p:blipFill>
        <p:spPr>
          <a:xfrm>
            <a:off x="4855464" y="1216152"/>
            <a:ext cx="1599158" cy="1609344"/>
          </a:xfrm>
          <a:prstGeom prst="rect">
            <a:avLst/>
          </a:prstGeom>
        </p:spPr>
      </p:pic>
      <p:sp>
        <p:nvSpPr>
          <p:cNvPr id="15" name="Text 10"/>
          <p:cNvSpPr txBox="1"/>
          <p:nvPr/>
        </p:nvSpPr>
        <p:spPr>
          <a:xfrm>
            <a:off x="4837176" y="2926080"/>
            <a:ext cx="1691640" cy="365760"/>
          </a:xfrm>
          <a:prstGeom prst="rect">
            <a:avLst/>
          </a:prstGeom>
          <a:noFill/>
          <a:ln/>
        </p:spPr>
        <p:txBody>
          <a:bodyPr wrap="square" lIns="0" tIns="0" rIns="0" bIns="0" rtlCol="0" anchor="t"/>
          <a:lstStyle/>
          <a:p>
            <a:pPr indent="0" marL="0">
              <a:buNone/>
            </a:pPr>
            <a:r>
              <a:rPr lang="en-US" sz="1500" b="1" dirty="0">
                <a:solidFill>
                  <a:schemeClr val="tx1"/>
                </a:solidFill>
              </a:rPr>
              <a:t>3  Move</a:t>
            </a:r>
            <a:endParaRPr lang="en-US" sz="1500" dirty="0"/>
          </a:p>
        </p:txBody>
      </p:sp>
      <p:sp>
        <p:nvSpPr>
          <p:cNvPr id="16" name="Text 11"/>
          <p:cNvSpPr txBox="1"/>
          <p:nvPr/>
        </p:nvSpPr>
        <p:spPr>
          <a:xfrm>
            <a:off x="4837176" y="3310128"/>
            <a:ext cx="1691640" cy="1188720"/>
          </a:xfrm>
          <a:prstGeom prst="rect">
            <a:avLst/>
          </a:prstGeom>
          <a:noFill/>
          <a:ln/>
        </p:spPr>
        <p:txBody>
          <a:bodyPr wrap="square" lIns="0" tIns="0" rIns="0" bIns="0" rtlCol="0" anchor="t"/>
          <a:lstStyle/>
          <a:p>
            <a:pPr indent="0" marL="0">
              <a:buNone/>
            </a:pPr>
            <a:r>
              <a:rPr lang="en-US" sz="1300" dirty="0">
                <a:solidFill>
                  <a:schemeClr val="accent4"/>
                </a:solidFill>
              </a:rPr>
              <a:t>Request a move; it may be cut short by a hidden piece.</a:t>
            </a:r>
            <a:endParaRPr lang="en-US" sz="1300" dirty="0"/>
          </a:p>
        </p:txBody>
      </p:sp>
      <p:sp>
        <p:nvSpPr>
          <p:cNvPr id="17" name="arrow"/>
          <p:cNvSpPr/>
          <p:nvPr/>
        </p:nvSpPr>
        <p:spPr>
          <a:xfrm>
            <a:off x="6647688" y="1874520"/>
            <a:ext cx="164592" cy="292608"/>
          </a:xfrm>
          <a:prstGeom prst="rightArrow">
            <a:avLst/>
          </a:prstGeom>
          <a:solidFill>
            <a:schemeClr val="accent2"/>
          </a:solidFill>
          <a:ln w="12700">
            <a:solidFill>
              <a:schemeClr val="accent2"/>
            </a:solidFill>
            <a:prstDash val="solid"/>
          </a:ln>
        </p:spPr>
      </p:sp>
      <p:sp>
        <p:nvSpPr>
          <p:cNvPr id="18" name="turn step"/>
          <p:cNvSpPr/>
          <p:nvPr/>
        </p:nvSpPr>
        <p:spPr>
          <a:xfrm>
            <a:off x="6821424" y="1097280"/>
            <a:ext cx="1938528" cy="3520440"/>
          </a:xfrm>
          <a:prstGeom prst="roundRect">
            <a:avLst>
              <a:gd name="adj" fmla="val 3774"/>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9" name="rbc_king_capture" descr="4  King capture">    </p:cNvPr>
          <p:cNvPicPr>
            <a:picLocks noChangeAspect="1"/>
          </p:cNvPicPr>
          <p:nvPr/>
        </p:nvPicPr>
        <p:blipFill>
          <a:blip r:embed="rId4"/>
          <a:stretch>
            <a:fillRect/>
          </a:stretch>
        </p:blipFill>
        <p:spPr>
          <a:xfrm>
            <a:off x="6976872" y="1216152"/>
            <a:ext cx="1599158" cy="1609344"/>
          </a:xfrm>
          <a:prstGeom prst="rect">
            <a:avLst/>
          </a:prstGeom>
        </p:spPr>
      </p:pic>
      <p:sp>
        <p:nvSpPr>
          <p:cNvPr id="20" name="Text 14"/>
          <p:cNvSpPr txBox="1"/>
          <p:nvPr/>
        </p:nvSpPr>
        <p:spPr>
          <a:xfrm>
            <a:off x="6958584" y="2926080"/>
            <a:ext cx="1691640" cy="365760"/>
          </a:xfrm>
          <a:prstGeom prst="rect">
            <a:avLst/>
          </a:prstGeom>
          <a:noFill/>
          <a:ln/>
        </p:spPr>
        <p:txBody>
          <a:bodyPr wrap="square" lIns="0" tIns="0" rIns="0" bIns="0" rtlCol="0" anchor="t"/>
          <a:lstStyle/>
          <a:p>
            <a:pPr indent="0" marL="0">
              <a:buNone/>
            </a:pPr>
            <a:r>
              <a:rPr lang="en-US" sz="1500" b="1" dirty="0">
                <a:solidFill>
                  <a:schemeClr val="tx1"/>
                </a:solidFill>
              </a:rPr>
              <a:t>4  King capture</a:t>
            </a:r>
            <a:endParaRPr lang="en-US" sz="1500" dirty="0"/>
          </a:p>
        </p:txBody>
      </p:sp>
      <p:sp>
        <p:nvSpPr>
          <p:cNvPr id="21" name="Text 15"/>
          <p:cNvSpPr txBox="1"/>
          <p:nvPr/>
        </p:nvSpPr>
        <p:spPr>
          <a:xfrm>
            <a:off x="6958584" y="3310128"/>
            <a:ext cx="1691640" cy="1188720"/>
          </a:xfrm>
          <a:prstGeom prst="rect">
            <a:avLst/>
          </a:prstGeom>
          <a:noFill/>
          <a:ln/>
        </p:spPr>
        <p:txBody>
          <a:bodyPr wrap="square" lIns="0" tIns="0" rIns="0" bIns="0" rtlCol="0" anchor="t"/>
          <a:lstStyle/>
          <a:p>
            <a:pPr indent="0" marL="0">
              <a:buNone/>
            </a:pPr>
            <a:r>
              <a:rPr lang="en-US" sz="1300" dirty="0">
                <a:solidFill>
                  <a:schemeClr val="accent4"/>
                </a:solidFill>
              </a:rPr>
              <a:t>No check or checkmate: taking the king wins.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Sensing reveals nine squares</a:t>
            </a:r>
            <a:endParaRPr lang="en-US" sz="2800" dirty="0"/>
          </a:p>
        </p:txBody>
      </p:sp>
      <p:pic>
        <p:nvPicPr>
          <p:cNvPr id="3" name="rbc_hidden" descr="Before sensing">    </p:cNvPr>
          <p:cNvPicPr>
            <a:picLocks noChangeAspect="1"/>
          </p:cNvPicPr>
          <p:nvPr/>
        </p:nvPicPr>
        <p:blipFill>
          <a:blip r:embed="rId1"/>
          <a:stretch>
            <a:fillRect/>
          </a:stretch>
        </p:blipFill>
        <p:spPr>
          <a:xfrm>
            <a:off x="457200" y="1097280"/>
            <a:ext cx="3225575" cy="3246120"/>
          </a:xfrm>
          <a:prstGeom prst="rect">
            <a:avLst/>
          </a:prstGeom>
        </p:spPr>
      </p:pic>
      <p:sp>
        <p:nvSpPr>
          <p:cNvPr id="4" name="arrow"/>
          <p:cNvSpPr/>
          <p:nvPr/>
        </p:nvSpPr>
        <p:spPr>
          <a:xfrm>
            <a:off x="3822192" y="2606040"/>
            <a:ext cx="457200" cy="292608"/>
          </a:xfrm>
          <a:prstGeom prst="rightArrow">
            <a:avLst/>
          </a:prstGeom>
          <a:solidFill>
            <a:schemeClr val="accent2"/>
          </a:solidFill>
          <a:ln w="12700">
            <a:solidFill>
              <a:schemeClr val="accent2"/>
            </a:solidFill>
            <a:prstDash val="solid"/>
          </a:ln>
        </p:spPr>
      </p:sp>
      <p:pic>
        <p:nvPicPr>
          <p:cNvPr id="5" name="rbc_sense" descr="After sensing e6">    </p:cNvPr>
          <p:cNvPicPr>
            <a:picLocks noChangeAspect="1"/>
          </p:cNvPicPr>
          <p:nvPr/>
        </p:nvPicPr>
        <p:blipFill>
          <a:blip r:embed="rId2"/>
          <a:stretch>
            <a:fillRect/>
          </a:stretch>
        </p:blipFill>
        <p:spPr>
          <a:xfrm>
            <a:off x="4407408" y="1097280"/>
            <a:ext cx="3225575" cy="3246120"/>
          </a:xfrm>
          <a:prstGeom prst="rect">
            <a:avLst/>
          </a:prstGeom>
        </p:spPr>
      </p:pic>
      <p:sp>
        <p:nvSpPr>
          <p:cNvPr id="6" name="Text 2"/>
          <p:cNvSpPr txBox="1"/>
          <p:nvPr/>
        </p:nvSpPr>
        <p:spPr>
          <a:xfrm>
            <a:off x="457200" y="4407408"/>
            <a:ext cx="3246120" cy="274320"/>
          </a:xfrm>
          <a:prstGeom prst="rect">
            <a:avLst/>
          </a:prstGeom>
          <a:noFill/>
          <a:ln/>
        </p:spPr>
        <p:txBody>
          <a:bodyPr wrap="square" lIns="0" tIns="0" rIns="0" bIns="0" rtlCol="0" anchor="t"/>
          <a:lstStyle/>
          <a:p>
            <a:pPr algn="ctr" indent="0" marL="0">
              <a:buNone/>
            </a:pPr>
            <a:r>
              <a:rPr lang="en-US" sz="1200" dirty="0">
                <a:solidFill>
                  <a:schemeClr val="accent4"/>
                </a:solidFill>
              </a:rPr>
              <a:t>before</a:t>
            </a:r>
            <a:endParaRPr lang="en-US" sz="1200" dirty="0"/>
          </a:p>
        </p:txBody>
      </p:sp>
      <p:sp>
        <p:nvSpPr>
          <p:cNvPr id="7" name="Text 3"/>
          <p:cNvSpPr txBox="1"/>
          <p:nvPr/>
        </p:nvSpPr>
        <p:spPr>
          <a:xfrm>
            <a:off x="4407408" y="4407408"/>
            <a:ext cx="3246120" cy="274320"/>
          </a:xfrm>
          <a:prstGeom prst="rect">
            <a:avLst/>
          </a:prstGeom>
          <a:noFill/>
          <a:ln/>
        </p:spPr>
        <p:txBody>
          <a:bodyPr wrap="square" lIns="0" tIns="0" rIns="0" bIns="0" rtlCol="0" anchor="t"/>
          <a:lstStyle/>
          <a:p>
            <a:pPr algn="ctr" indent="0" marL="0">
              <a:buNone/>
            </a:pPr>
            <a:r>
              <a:rPr lang="en-US" sz="1200" dirty="0">
                <a:solidFill>
                  <a:schemeClr val="accent4"/>
                </a:solidFill>
              </a:rPr>
              <a:t>after sensing e6</a:t>
            </a:r>
            <a:endParaRPr lang="en-US" sz="1200" dirty="0"/>
          </a:p>
        </p:txBody>
      </p:sp>
      <p:sp>
        <p:nvSpPr>
          <p:cNvPr id="8" name="sense facts"/>
          <p:cNvSpPr/>
          <p:nvPr/>
        </p:nvSpPr>
        <p:spPr>
          <a:xfrm>
            <a:off x="7818120" y="1097280"/>
            <a:ext cx="914400" cy="3246120"/>
          </a:xfrm>
          <a:prstGeom prst="roundRect">
            <a:avLst>
              <a:gd name="adj" fmla="val 8000"/>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9" name="Text 5"/>
          <p:cNvSpPr txBox="1"/>
          <p:nvPr/>
        </p:nvSpPr>
        <p:spPr>
          <a:xfrm>
            <a:off x="7863840" y="1325880"/>
            <a:ext cx="822960" cy="2834640"/>
          </a:xfrm>
          <a:prstGeom prst="rect">
            <a:avLst/>
          </a:prstGeom>
          <a:noFill/>
          <a:ln/>
        </p:spPr>
        <p:txBody>
          <a:bodyPr wrap="square" lIns="0" tIns="0" rIns="0" bIns="0" rtlCol="0" anchor="t"/>
          <a:lstStyle/>
          <a:p>
            <a:pPr algn="ctr" indent="0" marL="0">
              <a:buNone/>
            </a:pPr>
            <a:r>
              <a:rPr lang="en-US" sz="3000" b="1" dirty="0">
                <a:solidFill>
                  <a:schemeClr val="accent2"/>
                </a:solidFill>
              </a:rPr>
              <a:t>4</a:t>
            </a:r>
            <a:endParaRPr lang="en-US" sz="1400" dirty="0"/>
          </a:p>
          <a:p>
            <a:pPr algn="ctr" indent="0" marL="0">
              <a:buNone/>
            </a:pPr>
            <a:r>
              <a:rPr lang="en-US" sz="1100" dirty="0">
                <a:solidFill>
                  <a:schemeClr val="bg1"/>
                </a:solidFill>
              </a:rPr>
              <a:t>pieces found</a:t>
            </a:r>
            <a:endParaRPr lang="en-US" sz="1400" dirty="0"/>
          </a:p>
          <a:p>
            <a:pPr algn="ctr" indent="0" marL="0">
              <a:buNone/>
            </a:pPr>
            <a:r>
              <a:rPr lang="en-US" sz="1000" dirty="0">
                <a:solidFill>
                  <a:schemeClr val="tx1"/>
                </a:solidFill>
              </a:rPr>
              <a:t> </a:t>
            </a:r>
            <a:endParaRPr lang="en-US" sz="1400" dirty="0"/>
          </a:p>
          <a:p>
            <a:pPr algn="ctr" indent="0" marL="0">
              <a:buNone/>
            </a:pPr>
            <a:r>
              <a:rPr lang="en-US" sz="3000" b="1" dirty="0">
                <a:solidFill>
                  <a:schemeClr val="accent2"/>
                </a:solidFill>
              </a:rPr>
              <a:t>5</a:t>
            </a:r>
            <a:endParaRPr lang="en-US" sz="1400" dirty="0"/>
          </a:p>
          <a:p>
            <a:pPr algn="ctr" indent="0" marL="0">
              <a:buNone/>
            </a:pPr>
            <a:r>
              <a:rPr lang="en-US" sz="1100" dirty="0">
                <a:solidFill>
                  <a:schemeClr val="bg1"/>
                </a:solidFill>
              </a:rPr>
              <a:t>squares now known empty</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 move can be cut short by a piece you cannot see</a:t>
            </a:r>
            <a:endParaRPr lang="en-US" sz="2800" dirty="0"/>
          </a:p>
        </p:txBody>
      </p:sp>
      <p:pic>
        <p:nvPicPr>
          <p:cNvPr id="3" name="rbc_blocked" descr="Requested a1-a8, taken a1xa6">    </p:cNvPr>
          <p:cNvPicPr>
            <a:picLocks noChangeAspect="1"/>
          </p:cNvPicPr>
          <p:nvPr/>
        </p:nvPicPr>
        <p:blipFill>
          <a:blip r:embed="rId1"/>
          <a:stretch>
            <a:fillRect/>
          </a:stretch>
        </p:blipFill>
        <p:spPr>
          <a:xfrm>
            <a:off x="457200" y="1051560"/>
            <a:ext cx="3543589" cy="3566160"/>
          </a:xfrm>
          <a:prstGeom prst="rect">
            <a:avLst/>
          </a:prstGeom>
        </p:spPr>
      </p:pic>
      <p:sp>
        <p:nvSpPr>
          <p:cNvPr id="4" name="Text 1"/>
          <p:cNvSpPr txBox="1"/>
          <p:nvPr/>
        </p:nvSpPr>
        <p:spPr>
          <a:xfrm>
            <a:off x="4434840" y="1234440"/>
            <a:ext cx="4251960"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White requests the rook move a1 to a8 (grey, dashed).</a:t>
            </a:r>
            <a:endParaRPr lang="en-US" sz="1500" dirty="0"/>
          </a:p>
          <a:p>
            <a:pPr marL="342900" indent="-342900">
              <a:spcAft>
                <a:spcPts val="600"/>
              </a:spcAft>
              <a:buSzPct val="100000"/>
              <a:buChar char="•"/>
            </a:pPr>
            <a:r>
              <a:rPr lang="en-US" sz="1500" dirty="0">
                <a:solidFill>
                  <a:schemeClr val="tx1"/>
                </a:solidFill>
              </a:rPr>
              <a:t>A hidden knight stands on a6: the rook stops there and captures it (orange).</a:t>
            </a:r>
            <a:endParaRPr lang="en-US" sz="1500" dirty="0"/>
          </a:p>
          <a:p>
            <a:pPr marL="342900" indent="-342900">
              <a:spcAft>
                <a:spcPts val="600"/>
              </a:spcAft>
              <a:buSzPct val="100000"/>
              <a:buChar char="•"/>
            </a:pPr>
            <a:r>
              <a:rPr lang="en-US" sz="1500" dirty="0">
                <a:solidFill>
                  <a:schemeClr val="tx1"/>
                </a:solidFill>
              </a:rPr>
              <a:t>White is told the move that was actually made and that it captured on a6.</a:t>
            </a:r>
            <a:endParaRPr lang="en-US" sz="1500" dirty="0"/>
          </a:p>
          <a:p>
            <a:pPr marL="342900" indent="-342900">
              <a:spcAft>
                <a:spcPts val="600"/>
              </a:spcAft>
              <a:buSzPct val="100000"/>
              <a:buChar char="•"/>
            </a:pPr>
            <a:r>
              <a:rPr lang="en-US" sz="1500" dirty="0">
                <a:solidFill>
                  <a:schemeClr val="tx1"/>
                </a:solidFill>
              </a:rPr>
              <a:t>Black is told only that a piece was captured on a6.</a:t>
            </a:r>
            <a:endParaRPr lang="en-US" sz="1500" dirty="0"/>
          </a:p>
          <a:p>
            <a:pPr marL="342900" indent="-342900">
              <a:spcAft>
                <a:spcPts val="600"/>
              </a:spcAft>
              <a:buSzPct val="100000"/>
              <a:buChar char="•"/>
            </a:pPr>
            <a:r>
              <a:rPr lang="en-US" sz="1500" dirty="0">
                <a:solidFill>
                  <a:schemeClr val="tx1"/>
                </a:solidFill>
              </a:rPr>
              <a:t>Illegal requests simply become a pass; every result is information.</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No check, no checkmate: capture the king</a:t>
            </a:r>
            <a:endParaRPr lang="en-US" sz="2800" dirty="0"/>
          </a:p>
        </p:txBody>
      </p:sp>
      <p:pic>
        <p:nvPicPr>
          <p:cNvPr id="3" name="rbc_king_capture" descr="The queen can capture the king">    </p:cNvPr>
          <p:cNvPicPr>
            <a:picLocks noChangeAspect="1"/>
          </p:cNvPicPr>
          <p:nvPr/>
        </p:nvPicPr>
        <p:blipFill>
          <a:blip r:embed="rId1"/>
          <a:stretch>
            <a:fillRect/>
          </a:stretch>
        </p:blipFill>
        <p:spPr>
          <a:xfrm>
            <a:off x="457200" y="1051560"/>
            <a:ext cx="3543589" cy="3566160"/>
          </a:xfrm>
          <a:prstGeom prst="rect">
            <a:avLst/>
          </a:prstGeom>
        </p:spPr>
      </p:pic>
      <p:sp>
        <p:nvSpPr>
          <p:cNvPr id="4" name="badge"/>
          <p:cNvSpPr/>
          <p:nvPr/>
        </p:nvSpPr>
        <p:spPr>
          <a:xfrm>
            <a:off x="4434840" y="1234440"/>
            <a:ext cx="457200" cy="457200"/>
          </a:xfrm>
          <a:prstGeom prst="ellipse">
            <a:avLst/>
          </a:prstGeom>
          <a:solidFill>
            <a:schemeClr val="accent3"/>
          </a:solidFill>
          <a:ln w="12700">
            <a:solidFill>
              <a:schemeClr val="accent3"/>
            </a:solidFill>
            <a:prstDash val="solid"/>
          </a:ln>
        </p:spPr>
      </p:sp>
      <p:sp>
        <p:nvSpPr>
          <p:cNvPr id="5" name="Text 2"/>
          <p:cNvSpPr txBox="1"/>
          <p:nvPr/>
        </p:nvSpPr>
        <p:spPr>
          <a:xfrm>
            <a:off x="443484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5074920" y="1216152"/>
            <a:ext cx="3611880" cy="329184"/>
          </a:xfrm>
          <a:prstGeom prst="rect">
            <a:avLst/>
          </a:prstGeom>
          <a:noFill/>
          <a:ln/>
        </p:spPr>
        <p:txBody>
          <a:bodyPr wrap="square" lIns="0" tIns="0" rIns="0" bIns="0" rtlCol="0" anchor="t"/>
          <a:lstStyle/>
          <a:p>
            <a:pPr indent="0" marL="0">
              <a:buNone/>
            </a:pPr>
            <a:r>
              <a:rPr lang="en-US" sz="1700" b="1" dirty="0">
                <a:solidFill>
                  <a:schemeClr val="tx1"/>
                </a:solidFill>
              </a:rPr>
              <a:t>Nobody warns you</a:t>
            </a:r>
            <a:endParaRPr lang="en-US" sz="1700" dirty="0"/>
          </a:p>
        </p:txBody>
      </p:sp>
      <p:sp>
        <p:nvSpPr>
          <p:cNvPr id="7" name="Text 4"/>
          <p:cNvSpPr txBox="1"/>
          <p:nvPr/>
        </p:nvSpPr>
        <p:spPr>
          <a:xfrm>
            <a:off x="5074920" y="1563624"/>
            <a:ext cx="3611880" cy="685800"/>
          </a:xfrm>
          <a:prstGeom prst="rect">
            <a:avLst/>
          </a:prstGeom>
          <a:noFill/>
          <a:ln/>
        </p:spPr>
        <p:txBody>
          <a:bodyPr wrap="square" lIns="0" tIns="0" rIns="0" bIns="0" rtlCol="0" anchor="t"/>
          <a:lstStyle/>
          <a:p>
            <a:pPr indent="0" marL="0">
              <a:buNone/>
            </a:pPr>
            <a:r>
              <a:rPr lang="en-US" sz="1400" dirty="0">
                <a:solidFill>
                  <a:schemeClr val="accent4"/>
                </a:solidFill>
              </a:rPr>
              <a:t>There is no check: a king can be left attacked without either side knowing.</a:t>
            </a:r>
            <a:endParaRPr lang="en-US" sz="1400" dirty="0"/>
          </a:p>
        </p:txBody>
      </p:sp>
      <p:sp>
        <p:nvSpPr>
          <p:cNvPr id="8" name="badge"/>
          <p:cNvSpPr/>
          <p:nvPr/>
        </p:nvSpPr>
        <p:spPr>
          <a:xfrm>
            <a:off x="4434840" y="2331720"/>
            <a:ext cx="457200" cy="457200"/>
          </a:xfrm>
          <a:prstGeom prst="ellipse">
            <a:avLst/>
          </a:prstGeom>
          <a:solidFill>
            <a:schemeClr val="accent3"/>
          </a:solidFill>
          <a:ln w="12700">
            <a:solidFill>
              <a:schemeClr val="accent3"/>
            </a:solidFill>
            <a:prstDash val="solid"/>
          </a:ln>
        </p:spPr>
      </p:sp>
      <p:sp>
        <p:nvSpPr>
          <p:cNvPr id="9" name="Text 6"/>
          <p:cNvSpPr txBox="1"/>
          <p:nvPr/>
        </p:nvSpPr>
        <p:spPr>
          <a:xfrm>
            <a:off x="4434840" y="2331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5074920" y="2313432"/>
            <a:ext cx="3611880" cy="329184"/>
          </a:xfrm>
          <a:prstGeom prst="rect">
            <a:avLst/>
          </a:prstGeom>
          <a:noFill/>
          <a:ln/>
        </p:spPr>
        <p:txBody>
          <a:bodyPr wrap="square" lIns="0" tIns="0" rIns="0" bIns="0" rtlCol="0" anchor="t"/>
          <a:lstStyle/>
          <a:p>
            <a:pPr indent="0" marL="0">
              <a:buNone/>
            </a:pPr>
            <a:r>
              <a:rPr lang="en-US" sz="1700" b="1" dirty="0">
                <a:solidFill>
                  <a:schemeClr val="tx1"/>
                </a:solidFill>
              </a:rPr>
              <a:t>Taking the king wins</a:t>
            </a:r>
            <a:endParaRPr lang="en-US" sz="1700" dirty="0"/>
          </a:p>
        </p:txBody>
      </p:sp>
      <p:sp>
        <p:nvSpPr>
          <p:cNvPr id="11" name="Text 8"/>
          <p:cNvSpPr txBox="1"/>
          <p:nvPr/>
        </p:nvSpPr>
        <p:spPr>
          <a:xfrm>
            <a:off x="5074920" y="2660904"/>
            <a:ext cx="3611880" cy="685800"/>
          </a:xfrm>
          <a:prstGeom prst="rect">
            <a:avLst/>
          </a:prstGeom>
          <a:noFill/>
          <a:ln/>
        </p:spPr>
        <p:txBody>
          <a:bodyPr wrap="square" lIns="0" tIns="0" rIns="0" bIns="0" rtlCol="0" anchor="t"/>
          <a:lstStyle/>
          <a:p>
            <a:pPr indent="0" marL="0">
              <a:buNone/>
            </a:pPr>
            <a:r>
              <a:rPr lang="en-US" sz="1400" dirty="0">
                <a:solidFill>
                  <a:schemeClr val="accent4"/>
                </a:solidFill>
              </a:rPr>
              <a:t>The game ends the moment a king is captured.</a:t>
            </a:r>
            <a:endParaRPr lang="en-US" sz="1400" dirty="0"/>
          </a:p>
        </p:txBody>
      </p:sp>
      <p:sp>
        <p:nvSpPr>
          <p:cNvPr id="12" name="badge"/>
          <p:cNvSpPr/>
          <p:nvPr/>
        </p:nvSpPr>
        <p:spPr>
          <a:xfrm>
            <a:off x="4434840" y="3429000"/>
            <a:ext cx="457200" cy="457200"/>
          </a:xfrm>
          <a:prstGeom prst="ellipse">
            <a:avLst/>
          </a:prstGeom>
          <a:solidFill>
            <a:schemeClr val="accent3"/>
          </a:solidFill>
          <a:ln w="12700">
            <a:solidFill>
              <a:schemeClr val="accent3"/>
            </a:solidFill>
            <a:prstDash val="solid"/>
          </a:ln>
        </p:spPr>
      </p:sp>
      <p:sp>
        <p:nvSpPr>
          <p:cNvPr id="13" name="Text 10"/>
          <p:cNvSpPr txBox="1"/>
          <p:nvPr/>
        </p:nvSpPr>
        <p:spPr>
          <a:xfrm>
            <a:off x="443484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5074920" y="3410712"/>
            <a:ext cx="3611880" cy="329184"/>
          </a:xfrm>
          <a:prstGeom prst="rect">
            <a:avLst/>
          </a:prstGeom>
          <a:noFill/>
          <a:ln/>
        </p:spPr>
        <p:txBody>
          <a:bodyPr wrap="square" lIns="0" tIns="0" rIns="0" bIns="0" rtlCol="0" anchor="t"/>
          <a:lstStyle/>
          <a:p>
            <a:pPr indent="0" marL="0">
              <a:buNone/>
            </a:pPr>
            <a:r>
              <a:rPr lang="en-US" sz="1700" b="1" dirty="0">
                <a:solidFill>
                  <a:schemeClr val="tx1"/>
                </a:solidFill>
              </a:rPr>
              <a:t>Clock and draw rules</a:t>
            </a:r>
            <a:endParaRPr lang="en-US" sz="1700" dirty="0"/>
          </a:p>
        </p:txBody>
      </p:sp>
      <p:sp>
        <p:nvSpPr>
          <p:cNvPr id="15" name="Text 12"/>
          <p:cNvSpPr txBox="1"/>
          <p:nvPr/>
        </p:nvSpPr>
        <p:spPr>
          <a:xfrm>
            <a:off x="5074920" y="3758184"/>
            <a:ext cx="3611880" cy="685800"/>
          </a:xfrm>
          <a:prstGeom prst="rect">
            <a:avLst/>
          </a:prstGeom>
          <a:noFill/>
          <a:ln/>
        </p:spPr>
        <p:txBody>
          <a:bodyPr wrap="square" lIns="0" tIns="0" rIns="0" bIns="0" rtlCol="0" anchor="t"/>
          <a:lstStyle/>
          <a:p>
            <a:pPr indent="0" marL="0">
              <a:buNone/>
            </a:pPr>
            <a:r>
              <a:rPr lang="en-US" sz="1400" dirty="0">
                <a:solidFill>
                  <a:schemeClr val="accent4"/>
                </a:solidFill>
              </a:rPr>
              <a:t>A player who runs out of time loses; long runs of moves without captures or pawn moves end in a draw.</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217920" cy="1234440"/>
          </a:xfrm>
          <a:prstGeom prst="rect">
            <a:avLst/>
          </a:prstGeom>
          <a:noFill/>
          <a:ln/>
        </p:spPr>
        <p:txBody>
          <a:bodyPr wrap="square" lIns="0" tIns="0" rIns="0" bIns="0" rtlCol="0" anchor="b"/>
          <a:lstStyle/>
          <a:p>
            <a:pPr algn="l" indent="0" marL="0">
              <a:buNone/>
            </a:pPr>
            <a:r>
              <a:rPr lang="en-US" sz="3600" b="1" dirty="0">
                <a:solidFill>
                  <a:schemeClr val="bg1"/>
                </a:solidFill>
              </a:rPr>
              <a:t>Chess vs RBC</a:t>
            </a:r>
            <a:endParaRPr lang="en-US" sz="3600" dirty="0"/>
          </a:p>
        </p:txBody>
      </p:sp>
      <p:sp>
        <p:nvSpPr>
          <p:cNvPr id="3" name="Text 0"/>
          <p:cNvSpPr/>
          <p:nvPr>
            <p:ph idx="101" type="body" hasCustomPrompt="1"/>
          </p:nvPr>
        </p:nvSpPr>
        <p:spPr>
          <a:xfrm>
            <a:off x="548640" y="3200400"/>
            <a:ext cx="6217920" cy="731520"/>
          </a:xfrm>
          <a:prstGeom prst="rect">
            <a:avLst/>
          </a:prstGeom>
          <a:noFill/>
          <a:ln/>
        </p:spPr>
        <p:txBody>
          <a:bodyPr wrap="square" lIns="0" tIns="0" rIns="0" bIns="0" rtlCol="0" anchor="t"/>
          <a:lstStyle/>
          <a:p>
            <a:pPr algn="l" indent="0" marL="0">
              <a:buNone/>
            </a:pPr>
            <a:r>
              <a:rPr lang="en-US" sz="1600" dirty="0">
                <a:solidFill>
                  <a:schemeClr val="bg2"/>
                </a:solidFill>
              </a:rPr>
              <a:t>Same pieces, very different game</a:t>
            </a:r>
            <a:endParaRPr lang="en-US" sz="1600" dirty="0"/>
          </a:p>
        </p:txBody>
      </p:sp>
      <p:sp>
        <p:nvSpPr>
          <p:cNvPr id="4" name="badge"/>
          <p:cNvSpPr/>
          <p:nvPr/>
        </p:nvSpPr>
        <p:spPr>
          <a:xfrm>
            <a:off x="548640" y="1005840"/>
            <a:ext cx="566928" cy="566928"/>
          </a:xfrm>
          <a:prstGeom prst="ellipse">
            <a:avLst/>
          </a:prstGeom>
          <a:solidFill>
            <a:schemeClr val="accent2"/>
          </a:solidFill>
          <a:ln w="12700">
            <a:solidFill>
              <a:schemeClr val="accent2"/>
            </a:solidFill>
            <a:prstDash val="solid"/>
          </a:ln>
        </p:spPr>
      </p:sp>
      <p:sp>
        <p:nvSpPr>
          <p:cNvPr id="5" name="Text 3"/>
          <p:cNvSpPr txBox="1"/>
          <p:nvPr/>
        </p:nvSpPr>
        <p:spPr>
          <a:xfrm>
            <a:off x="548640" y="1005840"/>
            <a:ext cx="566928" cy="566928"/>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The same position, two different games</a:t>
            </a:r>
            <a:endParaRPr lang="en-US" sz="2800" dirty="0"/>
          </a:p>
        </p:txBody>
      </p:sp>
      <p:pic>
        <p:nvPicPr>
          <p:cNvPr id="3" name="chess_full" descr="Chess: the whole board is visible">    </p:cNvPr>
          <p:cNvPicPr>
            <a:picLocks noChangeAspect="1"/>
          </p:cNvPicPr>
          <p:nvPr/>
        </p:nvPicPr>
        <p:blipFill>
          <a:blip r:embed="rId1"/>
          <a:stretch>
            <a:fillRect/>
          </a:stretch>
        </p:blipFill>
        <p:spPr>
          <a:xfrm>
            <a:off x="548640" y="1051560"/>
            <a:ext cx="3271006" cy="3291840"/>
          </a:xfrm>
          <a:prstGeom prst="rect">
            <a:avLst/>
          </a:prstGeom>
        </p:spPr>
      </p:pic>
      <p:pic>
        <p:nvPicPr>
          <p:cNvPr id="4" name="rbc_sense" descr="RBC: White's view after sensing e6">    </p:cNvPr>
          <p:cNvPicPr>
            <a:picLocks noChangeAspect="1"/>
          </p:cNvPicPr>
          <p:nvPr/>
        </p:nvPicPr>
        <p:blipFill>
          <a:blip r:embed="rId2"/>
          <a:stretch>
            <a:fillRect/>
          </a:stretch>
        </p:blipFill>
        <p:spPr>
          <a:xfrm>
            <a:off x="5029200" y="1051560"/>
            <a:ext cx="3271006" cy="3291840"/>
          </a:xfrm>
          <a:prstGeom prst="rect">
            <a:avLst/>
          </a:prstGeom>
        </p:spPr>
      </p:pic>
      <p:sp>
        <p:nvSpPr>
          <p:cNvPr id="5" name="Text 1"/>
          <p:cNvSpPr txBox="1"/>
          <p:nvPr/>
        </p:nvSpPr>
        <p:spPr>
          <a:xfrm>
            <a:off x="548640" y="4407408"/>
            <a:ext cx="3337560" cy="274320"/>
          </a:xfrm>
          <a:prstGeom prst="rect">
            <a:avLst/>
          </a:prstGeom>
          <a:noFill/>
          <a:ln/>
        </p:spPr>
        <p:txBody>
          <a:bodyPr wrap="square" lIns="0" tIns="0" rIns="0" bIns="0" rtlCol="0" anchor="t"/>
          <a:lstStyle/>
          <a:p>
            <a:pPr algn="ctr" indent="0" marL="0">
              <a:buNone/>
            </a:pPr>
            <a:r>
              <a:rPr lang="en-US" sz="1400" b="1" dirty="0">
                <a:solidFill>
                  <a:schemeClr val="tx1"/>
                </a:solidFill>
              </a:rPr>
              <a:t>Chess: both players see the whole board</a:t>
            </a:r>
            <a:endParaRPr lang="en-US" sz="1400" dirty="0"/>
          </a:p>
        </p:txBody>
      </p:sp>
      <p:sp>
        <p:nvSpPr>
          <p:cNvPr id="6" name="Text 2"/>
          <p:cNvSpPr txBox="1"/>
          <p:nvPr/>
        </p:nvSpPr>
        <p:spPr>
          <a:xfrm>
            <a:off x="5029200" y="4407408"/>
            <a:ext cx="3337560" cy="274320"/>
          </a:xfrm>
          <a:prstGeom prst="rect">
            <a:avLst/>
          </a:prstGeom>
          <a:noFill/>
          <a:ln/>
        </p:spPr>
        <p:txBody>
          <a:bodyPr wrap="square" lIns="0" tIns="0" rIns="0" bIns="0" rtlCol="0" anchor="t"/>
          <a:lstStyle/>
          <a:p>
            <a:pPr algn="ctr" indent="0" marL="0">
              <a:buNone/>
            </a:pPr>
            <a:r>
              <a:rPr lang="en-US" sz="1400" b="1" dirty="0">
                <a:solidFill>
                  <a:schemeClr val="tx1"/>
                </a:solidFill>
              </a:rPr>
              <a:t>RBC: White's knowledge after one sense</a:t>
            </a:r>
            <a:endParaRPr lang="en-US" sz="1400" dirty="0"/>
          </a:p>
        </p:txBody>
      </p:sp>
      <p:sp>
        <p:nvSpPr>
          <p:cNvPr id="7" name="Text 3"/>
          <p:cNvSpPr txBox="1"/>
          <p:nvPr/>
        </p:nvSpPr>
        <p:spPr>
          <a:xfrm>
            <a:off x="4114800" y="2423160"/>
            <a:ext cx="640080" cy="548640"/>
          </a:xfrm>
          <a:prstGeom prst="rect">
            <a:avLst/>
          </a:prstGeom>
          <a:noFill/>
          <a:ln/>
        </p:spPr>
        <p:txBody>
          <a:bodyPr wrap="square" lIns="0" tIns="0" rIns="0" bIns="0" rtlCol="0" anchor="t"/>
          <a:lstStyle/>
          <a:p>
            <a:pPr algn="ctr" indent="0" marL="0">
              <a:buNone/>
            </a:pPr>
            <a:r>
              <a:rPr lang="en-US" sz="2800" b="1" dirty="0">
                <a:solidFill>
                  <a:schemeClr val="accent2"/>
                </a:solidFill>
              </a:rPr>
              <a:t>vs</a:t>
            </a:r>
            <a:endParaRPr lang="en-US" sz="28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What changes for a computer player</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03120"/>
                <a:gridCol w="2377440"/>
                <a:gridCol w="3749040"/>
              </a:tblGrid>
              <a:tr h="457200">
                <a:tc>
                  <a:txBody>
                    <a:bodyPr/>
                    <a:lstStyle/>
                    <a:p>
                      <a:pPr indent="0" marL="0">
                        <a:buNone/>
                      </a:pPr>
                      <a:endParaRPr lang="en-US" sz="14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Chess</a:t>
                      </a:r>
                      <a:endParaRPr lang="en-US" sz="14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Reconnaissance Blind Chess</a:t>
                      </a:r>
                      <a:endParaRPr lang="en-US" sz="14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tx1"/>
                          </a:solidFill>
                        </a:rPr>
                        <a:t>What you see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The whole board</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Own pieces + one 3×3 sense per turn</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rPr>
                        <a:t>What you reason about</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position</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set of possible positions (often thousands)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Check and checkmate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Yes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 the king is captured</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rPr>
                        <a:t>Result of a move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Always as requested</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Can be cut short or become a pass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Best engine alone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Stockfish is superhuman</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Not enough: it needs a known board</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rPr>
                        <a:t>Key skills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Calculation</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Sensing, belief tracking, risk, opponent modelling</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Why RBC is hard for computer players</a:t>
            </a:r>
            <a:endParaRPr lang="en-US" sz="2800" dirty="0"/>
          </a:p>
        </p:txBody>
      </p:sp>
      <p:sp>
        <p:nvSpPr>
          <p:cNvPr id="3" name="stat card"/>
          <p:cNvSpPr/>
          <p:nvPr/>
        </p:nvSpPr>
        <p:spPr>
          <a:xfrm>
            <a:off x="457200" y="1143000"/>
            <a:ext cx="2606040" cy="274320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40080" y="1325880"/>
            <a:ext cx="2240280" cy="822960"/>
          </a:xfrm>
          <a:prstGeom prst="rect">
            <a:avLst/>
          </a:prstGeom>
          <a:noFill/>
          <a:ln/>
        </p:spPr>
        <p:txBody>
          <a:bodyPr wrap="square" lIns="0" tIns="0" rIns="0" bIns="0" rtlCol="0" anchor="t"/>
          <a:lstStyle/>
          <a:p>
            <a:pPr indent="0" marL="0">
              <a:buNone/>
            </a:pPr>
            <a:r>
              <a:rPr lang="en-US" sz="4200" b="1" dirty="0">
                <a:solidFill>
                  <a:schemeClr val="tx2"/>
                </a:solidFill>
              </a:rPr>
              <a:t>≈ Go</a:t>
            </a:r>
            <a:endParaRPr lang="en-US" sz="4200" dirty="0"/>
          </a:p>
        </p:txBody>
      </p:sp>
      <p:sp>
        <p:nvSpPr>
          <p:cNvPr id="5" name="Text 3"/>
          <p:cNvSpPr txBox="1"/>
          <p:nvPr/>
        </p:nvSpPr>
        <p:spPr>
          <a:xfrm>
            <a:off x="640080" y="2148840"/>
            <a:ext cx="2240280" cy="320040"/>
          </a:xfrm>
          <a:prstGeom prst="rect">
            <a:avLst/>
          </a:prstGeom>
          <a:noFill/>
          <a:ln/>
        </p:spPr>
        <p:txBody>
          <a:bodyPr wrap="square" lIns="0" tIns="0" rIns="0" bIns="0" rtlCol="0" anchor="t"/>
          <a:lstStyle/>
          <a:p>
            <a:pPr indent="0" marL="0">
              <a:buNone/>
            </a:pPr>
            <a:r>
              <a:rPr lang="en-US" sz="1500" b="1" dirty="0">
                <a:solidFill>
                  <a:schemeClr val="accent6"/>
                </a:solidFill>
              </a:rPr>
              <a:t>game size</a:t>
            </a:r>
            <a:endParaRPr lang="en-US" sz="1500" dirty="0"/>
          </a:p>
        </p:txBody>
      </p:sp>
      <p:sp>
        <p:nvSpPr>
          <p:cNvPr id="6" name="Text 4"/>
          <p:cNvSpPr txBox="1"/>
          <p:nvPr/>
        </p:nvSpPr>
        <p:spPr>
          <a:xfrm>
            <a:off x="640080" y="2560320"/>
            <a:ext cx="2240280" cy="1234440"/>
          </a:xfrm>
          <a:prstGeom prst="rect">
            <a:avLst/>
          </a:prstGeom>
          <a:noFill/>
          <a:ln/>
        </p:spPr>
        <p:txBody>
          <a:bodyPr wrap="square" lIns="0" tIns="0" rIns="0" bIns="0" rtlCol="0" anchor="t"/>
          <a:lstStyle/>
          <a:p>
            <a:pPr indent="0" marL="0">
              <a:buNone/>
            </a:pPr>
            <a:r>
              <a:rPr lang="en-US" sz="1300" dirty="0">
                <a:solidFill>
                  <a:schemeClr val="accent4"/>
                </a:solidFill>
              </a:rPr>
              <a:t>comparable to Go, with far larger information sets than heads-up limit poker (Markowitz et al.)</a:t>
            </a:r>
            <a:endParaRPr lang="en-US" sz="1300" dirty="0"/>
          </a:p>
        </p:txBody>
      </p:sp>
      <p:sp>
        <p:nvSpPr>
          <p:cNvPr id="7" name="stat card"/>
          <p:cNvSpPr/>
          <p:nvPr/>
        </p:nvSpPr>
        <p:spPr>
          <a:xfrm>
            <a:off x="3273552" y="1143000"/>
            <a:ext cx="2606040" cy="274320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3456432" y="1325880"/>
            <a:ext cx="2240280" cy="822960"/>
          </a:xfrm>
          <a:prstGeom prst="rect">
            <a:avLst/>
          </a:prstGeom>
          <a:noFill/>
          <a:ln/>
        </p:spPr>
        <p:txBody>
          <a:bodyPr wrap="square" lIns="0" tIns="0" rIns="0" bIns="0" rtlCol="0" anchor="t"/>
          <a:lstStyle/>
          <a:p>
            <a:pPr indent="0" marL="0">
              <a:buNone/>
            </a:pPr>
            <a:r>
              <a:rPr lang="en-US" sz="4200" b="1" dirty="0">
                <a:solidFill>
                  <a:schemeClr val="tx2"/>
                </a:solidFill>
              </a:rPr>
              <a:t>9,180</a:t>
            </a:r>
            <a:endParaRPr lang="en-US" sz="4200" dirty="0"/>
          </a:p>
        </p:txBody>
      </p:sp>
      <p:sp>
        <p:nvSpPr>
          <p:cNvPr id="9" name="Text 7"/>
          <p:cNvSpPr txBox="1"/>
          <p:nvPr/>
        </p:nvSpPr>
        <p:spPr>
          <a:xfrm>
            <a:off x="3456432" y="2148840"/>
            <a:ext cx="2240280" cy="320040"/>
          </a:xfrm>
          <a:prstGeom prst="rect">
            <a:avLst/>
          </a:prstGeom>
          <a:noFill/>
          <a:ln/>
        </p:spPr>
        <p:txBody>
          <a:bodyPr wrap="square" lIns="0" tIns="0" rIns="0" bIns="0" rtlCol="0" anchor="t"/>
          <a:lstStyle/>
          <a:p>
            <a:pPr indent="0" marL="0">
              <a:buNone/>
            </a:pPr>
            <a:r>
              <a:rPr lang="en-US" sz="1500" b="1" dirty="0">
                <a:solidFill>
                  <a:schemeClr val="accent6"/>
                </a:solidFill>
              </a:rPr>
              <a:t>games</a:t>
            </a:r>
            <a:endParaRPr lang="en-US" sz="1500" dirty="0"/>
          </a:p>
        </p:txBody>
      </p:sp>
      <p:sp>
        <p:nvSpPr>
          <p:cNvPr id="10" name="Text 8"/>
          <p:cNvSpPr txBox="1"/>
          <p:nvPr/>
        </p:nvSpPr>
        <p:spPr>
          <a:xfrm>
            <a:off x="3456432" y="2560320"/>
            <a:ext cx="2240280" cy="1234440"/>
          </a:xfrm>
          <a:prstGeom prst="rect">
            <a:avLst/>
          </a:prstGeom>
          <a:noFill/>
          <a:ln/>
        </p:spPr>
        <p:txBody>
          <a:bodyPr wrap="square" lIns="0" tIns="0" rIns="0" bIns="0" rtlCol="0" anchor="t"/>
          <a:lstStyle/>
          <a:p>
            <a:pPr indent="0" marL="0">
              <a:buNone/>
            </a:pPr>
            <a:r>
              <a:rPr lang="en-US" sz="1300" dirty="0">
                <a:solidFill>
                  <a:schemeClr val="accent4"/>
                </a:solidFill>
              </a:rPr>
              <a:t>played at the NeurIPS 2022 tournament: 18 bots, 60 games per pair</a:t>
            </a:r>
            <a:endParaRPr lang="en-US" sz="1300" dirty="0"/>
          </a:p>
        </p:txBody>
      </p:sp>
      <p:sp>
        <p:nvSpPr>
          <p:cNvPr id="11" name="stat card"/>
          <p:cNvSpPr/>
          <p:nvPr/>
        </p:nvSpPr>
        <p:spPr>
          <a:xfrm>
            <a:off x="6089904" y="1143000"/>
            <a:ext cx="2606040" cy="274320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2" name="Text 10"/>
          <p:cNvSpPr txBox="1"/>
          <p:nvPr/>
        </p:nvSpPr>
        <p:spPr>
          <a:xfrm>
            <a:off x="6272784" y="1325880"/>
            <a:ext cx="2240280" cy="822960"/>
          </a:xfrm>
          <a:prstGeom prst="rect">
            <a:avLst/>
          </a:prstGeom>
          <a:noFill/>
          <a:ln/>
        </p:spPr>
        <p:txBody>
          <a:bodyPr wrap="square" lIns="0" tIns="0" rIns="0" bIns="0" rtlCol="0" anchor="t"/>
          <a:lstStyle/>
          <a:p>
            <a:pPr indent="0" marL="0">
              <a:buNone/>
            </a:pPr>
            <a:r>
              <a:rPr lang="en-US" sz="4200" b="1" dirty="0">
                <a:solidFill>
                  <a:schemeClr val="tx2"/>
                </a:solidFill>
              </a:rPr>
              <a:t>21</a:t>
            </a:r>
            <a:endParaRPr lang="en-US" sz="4200" dirty="0"/>
          </a:p>
        </p:txBody>
      </p:sp>
      <p:sp>
        <p:nvSpPr>
          <p:cNvPr id="13" name="Text 11"/>
          <p:cNvSpPr txBox="1"/>
          <p:nvPr/>
        </p:nvSpPr>
        <p:spPr>
          <a:xfrm>
            <a:off x="6272784" y="2148840"/>
            <a:ext cx="2240280" cy="320040"/>
          </a:xfrm>
          <a:prstGeom prst="rect">
            <a:avLst/>
          </a:prstGeom>
          <a:noFill/>
          <a:ln/>
        </p:spPr>
        <p:txBody>
          <a:bodyPr wrap="square" lIns="0" tIns="0" rIns="0" bIns="0" rtlCol="0" anchor="t"/>
          <a:lstStyle/>
          <a:p>
            <a:pPr indent="0" marL="0">
              <a:buNone/>
            </a:pPr>
            <a:r>
              <a:rPr lang="en-US" sz="1500" b="1" dirty="0">
                <a:solidFill>
                  <a:schemeClr val="accent6"/>
                </a:solidFill>
              </a:rPr>
              <a:t>possible boards</a:t>
            </a:r>
            <a:endParaRPr lang="en-US" sz="1500" dirty="0"/>
          </a:p>
        </p:txBody>
      </p:sp>
      <p:sp>
        <p:nvSpPr>
          <p:cNvPr id="14" name="Text 12"/>
          <p:cNvSpPr txBox="1"/>
          <p:nvPr/>
        </p:nvSpPr>
        <p:spPr>
          <a:xfrm>
            <a:off x="6272784" y="2560320"/>
            <a:ext cx="2240280" cy="1234440"/>
          </a:xfrm>
          <a:prstGeom prst="rect">
            <a:avLst/>
          </a:prstGeom>
          <a:noFill/>
          <a:ln/>
        </p:spPr>
        <p:txBody>
          <a:bodyPr wrap="square" lIns="0" tIns="0" rIns="0" bIns="0" rtlCol="0" anchor="t"/>
          <a:lstStyle/>
          <a:p>
            <a:pPr indent="0" marL="0">
              <a:buNone/>
            </a:pPr>
            <a:r>
              <a:rPr lang="en-US" sz="1300" dirty="0">
                <a:solidFill>
                  <a:schemeClr val="accent4"/>
                </a:solidFill>
              </a:rPr>
              <a:t>median size of uccchess's board set during tournament games</a:t>
            </a:r>
            <a:endParaRPr lang="en-US" sz="1300" dirty="0"/>
          </a:p>
        </p:txBody>
      </p:sp>
      <p:sp>
        <p:nvSpPr>
          <p:cNvPr id="15" name="Text 13"/>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chemeClr val="tx2"/>
                </a:solidFill>
              </a:rPr>
              <a:t>No program has yet found a sound, unexploitable strategy (Gardner et al., PMLR 220, 2023).</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217920" cy="1234440"/>
          </a:xfrm>
          <a:prstGeom prst="rect">
            <a:avLst/>
          </a:prstGeom>
          <a:noFill/>
          <a:ln/>
        </p:spPr>
        <p:txBody>
          <a:bodyPr wrap="square" lIns="0" tIns="0" rIns="0" bIns="0" rtlCol="0" anchor="b"/>
          <a:lstStyle/>
          <a:p>
            <a:pPr algn="l" indent="0" marL="0">
              <a:buNone/>
            </a:pPr>
            <a:r>
              <a:rPr lang="en-US" sz="3600" b="1" dirty="0">
                <a:solidFill>
                  <a:schemeClr val="bg1"/>
                </a:solidFill>
              </a:rPr>
              <a:t>The bot</a:t>
            </a:r>
            <a:endParaRPr lang="en-US" sz="3600" dirty="0"/>
          </a:p>
        </p:txBody>
      </p:sp>
      <p:sp>
        <p:nvSpPr>
          <p:cNvPr id="3" name="Text 0"/>
          <p:cNvSpPr/>
          <p:nvPr>
            <p:ph idx="101" type="body" hasCustomPrompt="1"/>
          </p:nvPr>
        </p:nvSpPr>
        <p:spPr>
          <a:xfrm>
            <a:off x="548640" y="3200400"/>
            <a:ext cx="6217920" cy="731520"/>
          </a:xfrm>
          <a:prstGeom prst="rect">
            <a:avLst/>
          </a:prstGeom>
          <a:noFill/>
          <a:ln/>
        </p:spPr>
        <p:txBody>
          <a:bodyPr wrap="square" lIns="0" tIns="0" rIns="0" bIns="0" rtlCol="0" anchor="t"/>
          <a:lstStyle/>
          <a:p>
            <a:pPr algn="l" indent="0" marL="0">
              <a:buNone/>
            </a:pPr>
            <a:r>
              <a:rPr lang="en-US" sz="1600" dirty="0">
                <a:solidFill>
                  <a:schemeClr val="bg2"/>
                </a:solidFill>
              </a:rPr>
              <a:t>StrangeFish2: tracking every board that could be true</a:t>
            </a:r>
            <a:endParaRPr lang="en-US" sz="1600" dirty="0"/>
          </a:p>
        </p:txBody>
      </p:sp>
      <p:sp>
        <p:nvSpPr>
          <p:cNvPr id="4" name="badge"/>
          <p:cNvSpPr/>
          <p:nvPr/>
        </p:nvSpPr>
        <p:spPr>
          <a:xfrm>
            <a:off x="548640" y="1005840"/>
            <a:ext cx="566928" cy="566928"/>
          </a:xfrm>
          <a:prstGeom prst="ellipse">
            <a:avLst/>
          </a:prstGeom>
          <a:solidFill>
            <a:schemeClr val="accent2"/>
          </a:solidFill>
          <a:ln w="12700">
            <a:solidFill>
              <a:schemeClr val="accent2"/>
            </a:solidFill>
            <a:prstDash val="solid"/>
          </a:ln>
        </p:spPr>
      </p:sp>
      <p:sp>
        <p:nvSpPr>
          <p:cNvPr id="5" name="Text 3"/>
          <p:cNvSpPr txBox="1"/>
          <p:nvPr/>
        </p:nvSpPr>
        <p:spPr>
          <a:xfrm>
            <a:off x="548640" y="1005840"/>
            <a:ext cx="566928" cy="566928"/>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Tracking every board that could be true</a:t>
            </a:r>
            <a:endParaRPr lang="en-US" sz="2800" dirty="0"/>
          </a:p>
        </p:txBody>
      </p:sp>
      <p:pic>
        <p:nvPicPr>
          <p:cNvPr id="3" name="belief set" descr="Six of the twenty boards White must consider after 1.e4">    </p:cNvPr>
          <p:cNvPicPr>
            <a:picLocks noChangeAspect="1"/>
          </p:cNvPicPr>
          <p:nvPr/>
        </p:nvPicPr>
        <p:blipFill>
          <a:blip r:embed="rId1"/>
          <a:stretch>
            <a:fillRect/>
          </a:stretch>
        </p:blipFill>
        <p:spPr>
          <a:xfrm>
            <a:off x="457200" y="1051560"/>
            <a:ext cx="5029200" cy="3484414"/>
          </a:xfrm>
          <a:prstGeom prst="rect">
            <a:avLst/>
          </a:prstGeom>
        </p:spPr>
      </p:pic>
      <p:sp>
        <p:nvSpPr>
          <p:cNvPr id="4" name="badge"/>
          <p:cNvSpPr/>
          <p:nvPr/>
        </p:nvSpPr>
        <p:spPr>
          <a:xfrm>
            <a:off x="5760720" y="1143000"/>
            <a:ext cx="438912" cy="438912"/>
          </a:xfrm>
          <a:prstGeom prst="ellipse">
            <a:avLst/>
          </a:prstGeom>
          <a:solidFill>
            <a:schemeClr val="accent5"/>
          </a:solidFill>
          <a:ln w="12700">
            <a:solidFill>
              <a:schemeClr val="accent5"/>
            </a:solidFill>
            <a:prstDash val="solid"/>
          </a:ln>
        </p:spPr>
      </p:sp>
      <p:sp>
        <p:nvSpPr>
          <p:cNvPr id="5" name="Text 2"/>
          <p:cNvSpPr txBox="1"/>
          <p:nvPr/>
        </p:nvSpPr>
        <p:spPr>
          <a:xfrm>
            <a:off x="5760720" y="1143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6355080" y="1124712"/>
            <a:ext cx="2331720" cy="320040"/>
          </a:xfrm>
          <a:prstGeom prst="rect">
            <a:avLst/>
          </a:prstGeom>
          <a:noFill/>
          <a:ln/>
        </p:spPr>
        <p:txBody>
          <a:bodyPr wrap="square" lIns="0" tIns="0" rIns="0" bIns="0" rtlCol="0" anchor="t"/>
          <a:lstStyle/>
          <a:p>
            <a:pPr indent="0" marL="0">
              <a:buNone/>
            </a:pPr>
            <a:r>
              <a:rPr lang="en-US" sz="1600" b="1" dirty="0">
                <a:solidFill>
                  <a:schemeClr val="tx1"/>
                </a:solidFill>
              </a:rPr>
              <a:t>Expand</a:t>
            </a:r>
            <a:endParaRPr lang="en-US" sz="1600" dirty="0"/>
          </a:p>
        </p:txBody>
      </p:sp>
      <p:sp>
        <p:nvSpPr>
          <p:cNvPr id="7" name="Text 4"/>
          <p:cNvSpPr txBox="1"/>
          <p:nvPr/>
        </p:nvSpPr>
        <p:spPr>
          <a:xfrm>
            <a:off x="6355080" y="1453896"/>
            <a:ext cx="2331720" cy="731520"/>
          </a:xfrm>
          <a:prstGeom prst="rect">
            <a:avLst/>
          </a:prstGeom>
          <a:noFill/>
          <a:ln/>
        </p:spPr>
        <p:txBody>
          <a:bodyPr wrap="square" lIns="0" tIns="0" rIns="0" bIns="0" rtlCol="0" anchor="t"/>
          <a:lstStyle/>
          <a:p>
            <a:pPr indent="0" marL="0">
              <a:buNone/>
            </a:pPr>
            <a:r>
              <a:rPr lang="en-US" sz="1300" dirty="0">
                <a:solidFill>
                  <a:schemeClr val="accent4"/>
                </a:solidFill>
              </a:rPr>
              <a:t>For every board in the set, add every move the opponent could have made.</a:t>
            </a:r>
            <a:endParaRPr lang="en-US" sz="1300" dirty="0"/>
          </a:p>
        </p:txBody>
      </p:sp>
      <p:sp>
        <p:nvSpPr>
          <p:cNvPr id="8" name="badge"/>
          <p:cNvSpPr/>
          <p:nvPr/>
        </p:nvSpPr>
        <p:spPr>
          <a:xfrm>
            <a:off x="5760720" y="2221992"/>
            <a:ext cx="438912" cy="438912"/>
          </a:xfrm>
          <a:prstGeom prst="ellipse">
            <a:avLst/>
          </a:prstGeom>
          <a:solidFill>
            <a:schemeClr val="accent5"/>
          </a:solidFill>
          <a:ln w="12700">
            <a:solidFill>
              <a:schemeClr val="accent5"/>
            </a:solidFill>
            <a:prstDash val="solid"/>
          </a:ln>
        </p:spPr>
      </p:sp>
      <p:sp>
        <p:nvSpPr>
          <p:cNvPr id="9" name="Text 6"/>
          <p:cNvSpPr txBox="1"/>
          <p:nvPr/>
        </p:nvSpPr>
        <p:spPr>
          <a:xfrm>
            <a:off x="5760720" y="222199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6355080" y="2203704"/>
            <a:ext cx="2331720" cy="320040"/>
          </a:xfrm>
          <a:prstGeom prst="rect">
            <a:avLst/>
          </a:prstGeom>
          <a:noFill/>
          <a:ln/>
        </p:spPr>
        <p:txBody>
          <a:bodyPr wrap="square" lIns="0" tIns="0" rIns="0" bIns="0" rtlCol="0" anchor="t"/>
          <a:lstStyle/>
          <a:p>
            <a:pPr indent="0" marL="0">
              <a:buNone/>
            </a:pPr>
            <a:r>
              <a:rPr lang="en-US" sz="1600" b="1" dirty="0">
                <a:solidFill>
                  <a:schemeClr val="tx1"/>
                </a:solidFill>
              </a:rPr>
              <a:t>Filter</a:t>
            </a:r>
            <a:endParaRPr lang="en-US" sz="1600" dirty="0"/>
          </a:p>
        </p:txBody>
      </p:sp>
      <p:sp>
        <p:nvSpPr>
          <p:cNvPr id="11" name="Text 8"/>
          <p:cNvSpPr txBox="1"/>
          <p:nvPr/>
        </p:nvSpPr>
        <p:spPr>
          <a:xfrm>
            <a:off x="6355080" y="2532888"/>
            <a:ext cx="2331720" cy="731520"/>
          </a:xfrm>
          <a:prstGeom prst="rect">
            <a:avLst/>
          </a:prstGeom>
          <a:noFill/>
          <a:ln/>
        </p:spPr>
        <p:txBody>
          <a:bodyPr wrap="square" lIns="0" tIns="0" rIns="0" bIns="0" rtlCol="0" anchor="t"/>
          <a:lstStyle/>
          <a:p>
            <a:pPr indent="0" marL="0">
              <a:buNone/>
            </a:pPr>
            <a:r>
              <a:rPr lang="en-US" sz="1300" dirty="0">
                <a:solidFill>
                  <a:schemeClr val="accent4"/>
                </a:solidFill>
              </a:rPr>
              <a:t>Keep only boards consistent with the capture report, the sense result and the move result.</a:t>
            </a:r>
            <a:endParaRPr lang="en-US" sz="1300" dirty="0"/>
          </a:p>
        </p:txBody>
      </p:sp>
      <p:sp>
        <p:nvSpPr>
          <p:cNvPr id="12" name="badge"/>
          <p:cNvSpPr/>
          <p:nvPr/>
        </p:nvSpPr>
        <p:spPr>
          <a:xfrm>
            <a:off x="5760720" y="3300984"/>
            <a:ext cx="438912" cy="438912"/>
          </a:xfrm>
          <a:prstGeom prst="ellipse">
            <a:avLst/>
          </a:prstGeom>
          <a:solidFill>
            <a:schemeClr val="accent5"/>
          </a:solidFill>
          <a:ln w="12700">
            <a:solidFill>
              <a:schemeClr val="accent5"/>
            </a:solidFill>
            <a:prstDash val="solid"/>
          </a:ln>
        </p:spPr>
      </p:sp>
      <p:sp>
        <p:nvSpPr>
          <p:cNvPr id="13" name="Text 10"/>
          <p:cNvSpPr txBox="1"/>
          <p:nvPr/>
        </p:nvSpPr>
        <p:spPr>
          <a:xfrm>
            <a:off x="5760720" y="330098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6355080" y="3282696"/>
            <a:ext cx="2331720" cy="320040"/>
          </a:xfrm>
          <a:prstGeom prst="rect">
            <a:avLst/>
          </a:prstGeom>
          <a:noFill/>
          <a:ln/>
        </p:spPr>
        <p:txBody>
          <a:bodyPr wrap="square" lIns="0" tIns="0" rIns="0" bIns="0" rtlCol="0" anchor="t"/>
          <a:lstStyle/>
          <a:p>
            <a:pPr indent="0" marL="0">
              <a:buNone/>
            </a:pPr>
            <a:r>
              <a:rPr lang="en-US" sz="1600" b="1" dirty="0">
                <a:solidFill>
                  <a:schemeClr val="tx1"/>
                </a:solidFill>
              </a:rPr>
              <a:t>Repeat</a:t>
            </a:r>
            <a:endParaRPr lang="en-US" sz="1600" dirty="0"/>
          </a:p>
        </p:txBody>
      </p:sp>
      <p:sp>
        <p:nvSpPr>
          <p:cNvPr id="15" name="Text 12"/>
          <p:cNvSpPr txBox="1"/>
          <p:nvPr/>
        </p:nvSpPr>
        <p:spPr>
          <a:xfrm>
            <a:off x="6355080" y="3611880"/>
            <a:ext cx="2331720" cy="731520"/>
          </a:xfrm>
          <a:prstGeom prst="rect">
            <a:avLst/>
          </a:prstGeom>
          <a:noFill/>
          <a:ln/>
        </p:spPr>
        <p:txBody>
          <a:bodyPr wrap="square" lIns="0" tIns="0" rIns="0" bIns="0" rtlCol="0" anchor="t"/>
          <a:lstStyle/>
          <a:p>
            <a:pPr indent="0" marL="0">
              <a:buNone/>
            </a:pPr>
            <a:r>
              <a:rPr lang="en-US" sz="1300" dirty="0">
                <a:solidFill>
                  <a:schemeClr val="accent4"/>
                </a:solidFill>
              </a:rPr>
              <a:t>Every turn. After 1.e4, Black has 20 replies, so White starts its next turn with 20 boards.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StrangeFish2 decides over the whole set</a:t>
            </a:r>
            <a:endParaRPr lang="en-US" sz="2800" dirty="0"/>
          </a:p>
        </p:txBody>
      </p:sp>
      <p:sp>
        <p:nvSpPr>
          <p:cNvPr id="3" name="decision card"/>
          <p:cNvSpPr/>
          <p:nvPr/>
        </p:nvSpPr>
        <p:spPr>
          <a:xfrm>
            <a:off x="457200" y="1143000"/>
            <a:ext cx="260604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40080" y="1298448"/>
            <a:ext cx="2240280" cy="365760"/>
          </a:xfrm>
          <a:prstGeom prst="rect">
            <a:avLst/>
          </a:prstGeom>
          <a:noFill/>
          <a:ln/>
        </p:spPr>
        <p:txBody>
          <a:bodyPr wrap="square" lIns="0" tIns="0" rIns="0" bIns="0" rtlCol="0" anchor="t"/>
          <a:lstStyle/>
          <a:p>
            <a:pPr indent="0" marL="0">
              <a:buNone/>
            </a:pPr>
            <a:r>
              <a:rPr lang="en-US" sz="1800" b="1" dirty="0">
                <a:solidFill>
                  <a:schemeClr val="tx2"/>
                </a:solidFill>
              </a:rPr>
              <a:t>Sense</a:t>
            </a:r>
            <a:endParaRPr lang="en-US" sz="1800" dirty="0"/>
          </a:p>
        </p:txBody>
      </p:sp>
      <p:sp>
        <p:nvSpPr>
          <p:cNvPr id="5" name="Text 3"/>
          <p:cNvSpPr txBox="1"/>
          <p:nvPr/>
        </p:nvSpPr>
        <p:spPr>
          <a:xfrm>
            <a:off x="640080" y="1737360"/>
            <a:ext cx="2240280" cy="1371600"/>
          </a:xfrm>
          <a:prstGeom prst="rect">
            <a:avLst/>
          </a:prstGeom>
          <a:noFill/>
          <a:ln/>
        </p:spPr>
        <p:txBody>
          <a:bodyPr wrap="square" lIns="0" tIns="0" rIns="0" bIns="0" rtlCol="0" anchor="t"/>
          <a:lstStyle/>
          <a:p>
            <a:pPr indent="0" marL="0">
              <a:buNone/>
            </a:pPr>
            <a:r>
              <a:rPr lang="en-US" sz="1300" dirty="0">
                <a:solidFill>
                  <a:schemeClr val="tx1"/>
                </a:solidFill>
              </a:rPr>
              <a:t>Choose the square whose result most improves the coming move, with a bonus for shrinking the set.</a:t>
            </a:r>
            <a:endParaRPr lang="en-US" sz="1300" dirty="0"/>
          </a:p>
        </p:txBody>
      </p:sp>
      <p:sp>
        <p:nvSpPr>
          <p:cNvPr id="6" name="decision card"/>
          <p:cNvSpPr/>
          <p:nvPr/>
        </p:nvSpPr>
        <p:spPr>
          <a:xfrm>
            <a:off x="3273552" y="1143000"/>
            <a:ext cx="260604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7" name="Text 5"/>
          <p:cNvSpPr txBox="1"/>
          <p:nvPr/>
        </p:nvSpPr>
        <p:spPr>
          <a:xfrm>
            <a:off x="3456432" y="1298448"/>
            <a:ext cx="2240280" cy="365760"/>
          </a:xfrm>
          <a:prstGeom prst="rect">
            <a:avLst/>
          </a:prstGeom>
          <a:noFill/>
          <a:ln/>
        </p:spPr>
        <p:txBody>
          <a:bodyPr wrap="square" lIns="0" tIns="0" rIns="0" bIns="0" rtlCol="0" anchor="t"/>
          <a:lstStyle/>
          <a:p>
            <a:pPr indent="0" marL="0">
              <a:buNone/>
            </a:pPr>
            <a:r>
              <a:rPr lang="en-US" sz="1800" b="1" dirty="0">
                <a:solidFill>
                  <a:schemeClr val="tx2"/>
                </a:solidFill>
              </a:rPr>
              <a:t>Move</a:t>
            </a:r>
            <a:endParaRPr lang="en-US" sz="1800" dirty="0"/>
          </a:p>
        </p:txBody>
      </p:sp>
      <p:sp>
        <p:nvSpPr>
          <p:cNvPr id="8" name="Text 6"/>
          <p:cNvSpPr txBox="1"/>
          <p:nvPr/>
        </p:nvSpPr>
        <p:spPr>
          <a:xfrm>
            <a:off x="3456432" y="1737360"/>
            <a:ext cx="2240280" cy="1371600"/>
          </a:xfrm>
          <a:prstGeom prst="rect">
            <a:avLst/>
          </a:prstGeom>
          <a:noFill/>
          <a:ln/>
        </p:spPr>
        <p:txBody>
          <a:bodyPr wrap="square" lIns="0" tIns="0" rIns="0" bIns="0" rtlCol="0" anchor="t"/>
          <a:lstStyle/>
          <a:p>
            <a:pPr indent="0" marL="0">
              <a:buNone/>
            </a:pPr>
            <a:r>
              <a:rPr lang="en-US" sz="1300" dirty="0">
                <a:solidFill>
                  <a:schemeClr val="tx1"/>
                </a:solidFill>
              </a:rPr>
              <a:t>Score every move on many boards with Stockfish and RBC heuristics; combine mean, worst and best case.</a:t>
            </a:r>
            <a:endParaRPr lang="en-US" sz="1300" dirty="0"/>
          </a:p>
        </p:txBody>
      </p:sp>
      <p:sp>
        <p:nvSpPr>
          <p:cNvPr id="9" name="decision card"/>
          <p:cNvSpPr/>
          <p:nvPr/>
        </p:nvSpPr>
        <p:spPr>
          <a:xfrm>
            <a:off x="6089904" y="1143000"/>
            <a:ext cx="260604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0" name="Text 8"/>
          <p:cNvSpPr txBox="1"/>
          <p:nvPr/>
        </p:nvSpPr>
        <p:spPr>
          <a:xfrm>
            <a:off x="6272784" y="1298448"/>
            <a:ext cx="2240280" cy="365760"/>
          </a:xfrm>
          <a:prstGeom prst="rect">
            <a:avLst/>
          </a:prstGeom>
          <a:noFill/>
          <a:ln/>
        </p:spPr>
        <p:txBody>
          <a:bodyPr wrap="square" lIns="0" tIns="0" rIns="0" bIns="0" rtlCol="0" anchor="t"/>
          <a:lstStyle/>
          <a:p>
            <a:pPr indent="0" marL="0">
              <a:buNone/>
            </a:pPr>
            <a:r>
              <a:rPr lang="en-US" sz="1800" b="1" dirty="0">
                <a:solidFill>
                  <a:schemeClr val="tx2"/>
                </a:solidFill>
              </a:rPr>
              <a:t>Style</a:t>
            </a:r>
            <a:endParaRPr lang="en-US" sz="1800" dirty="0"/>
          </a:p>
        </p:txBody>
      </p:sp>
      <p:sp>
        <p:nvSpPr>
          <p:cNvPr id="11" name="Text 9"/>
          <p:cNvSpPr txBox="1"/>
          <p:nvPr/>
        </p:nvSpPr>
        <p:spPr>
          <a:xfrm>
            <a:off x="6272784" y="1737360"/>
            <a:ext cx="2240280" cy="1371600"/>
          </a:xfrm>
          <a:prstGeom prst="rect">
            <a:avLst/>
          </a:prstGeom>
          <a:noFill/>
          <a:ln/>
        </p:spPr>
        <p:txBody>
          <a:bodyPr wrap="square" lIns="0" tIns="0" rIns="0" bIns="0" rtlCol="0" anchor="t"/>
          <a:lstStyle/>
          <a:p>
            <a:pPr indent="0" marL="0">
              <a:buNone/>
            </a:pPr>
            <a:r>
              <a:rPr lang="en-US" sz="1300" dirty="0">
                <a:solidFill>
                  <a:schemeClr val="tx1"/>
                </a:solidFill>
              </a:rPr>
              <a:t>Weights for mean / worst / best case, a randomisation band and exploration decide how it plays.</a:t>
            </a:r>
            <a:endParaRPr lang="en-US" sz="1300" dirty="0"/>
          </a:p>
        </p:txBody>
      </p:sp>
      <p:sp>
        <p:nvSpPr>
          <p:cNvPr id="12" name="Text 10"/>
          <p:cNvSpPr txBox="1"/>
          <p:nvPr/>
        </p:nvSpPr>
        <p:spPr>
          <a:xfrm>
            <a:off x="457200" y="3456432"/>
            <a:ext cx="8229600" cy="320040"/>
          </a:xfrm>
          <a:prstGeom prst="rect">
            <a:avLst/>
          </a:prstGeom>
          <a:noFill/>
          <a:ln/>
        </p:spPr>
        <p:txBody>
          <a:bodyPr wrap="square" lIns="0" tIns="0" rIns="0" bIns="0" rtlCol="0" anchor="t"/>
          <a:lstStyle/>
          <a:p>
            <a:pPr indent="0" marL="0">
              <a:buNone/>
            </a:pPr>
            <a:r>
              <a:rPr lang="en-US" sz="1500" b="1" dirty="0">
                <a:solidFill>
                  <a:schemeClr val="tx1"/>
                </a:solidFill>
              </a:rPr>
              <a:t>Strategic personalities used by uccchess</a:t>
            </a:r>
            <a:endParaRPr lang="en-US" sz="1500" dirty="0"/>
          </a:p>
        </p:txBody>
      </p:sp>
      <p:sp>
        <p:nvSpPr>
          <p:cNvPr id="13" name="personality"/>
          <p:cNvSpPr/>
          <p:nvPr/>
        </p:nvSpPr>
        <p:spPr>
          <a:xfrm>
            <a:off x="457200" y="3886200"/>
            <a:ext cx="941832" cy="457200"/>
          </a:xfrm>
          <a:prstGeom prst="roundRect">
            <a:avLst>
              <a:gd name="adj" fmla="val 24000"/>
            </a:avLst>
          </a:prstGeom>
          <a:solidFill>
            <a:schemeClr val="tx2"/>
          </a:solidFill>
          <a:ln w="12700">
            <a:solidFill>
              <a:schemeClr val="tx2"/>
            </a:solidFill>
            <a:prstDash val="solid"/>
          </a:ln>
        </p:spPr>
      </p:sp>
      <p:sp>
        <p:nvSpPr>
          <p:cNvPr id="14" name="Text 12"/>
          <p:cNvSpPr txBox="1"/>
          <p:nvPr/>
        </p:nvSpPr>
        <p:spPr>
          <a:xfrm>
            <a:off x="457200" y="3886200"/>
            <a:ext cx="941832" cy="457200"/>
          </a:xfrm>
          <a:prstGeom prst="rect">
            <a:avLst/>
          </a:prstGeom>
          <a:noFill/>
          <a:ln/>
        </p:spPr>
        <p:txBody>
          <a:bodyPr wrap="square" lIns="0" tIns="0" rIns="0" bIns="0" rtlCol="0" anchor="ctr"/>
          <a:lstStyle/>
          <a:p>
            <a:pPr algn="ctr" indent="0" marL="0">
              <a:buNone/>
            </a:pPr>
            <a:r>
              <a:rPr lang="en-US" sz="1100" b="1" dirty="0">
                <a:solidFill>
                  <a:schemeClr val="bg1"/>
                </a:solidFill>
              </a:rPr>
              <a:t>default</a:t>
            </a:r>
            <a:endParaRPr lang="en-US" sz="1100" dirty="0"/>
          </a:p>
        </p:txBody>
      </p:sp>
      <p:sp>
        <p:nvSpPr>
          <p:cNvPr id="15" name="personality"/>
          <p:cNvSpPr/>
          <p:nvPr/>
        </p:nvSpPr>
        <p:spPr>
          <a:xfrm>
            <a:off x="1495044" y="3886200"/>
            <a:ext cx="941832" cy="457200"/>
          </a:xfrm>
          <a:prstGeom prst="roundRect">
            <a:avLst>
              <a:gd name="adj" fmla="val 24000"/>
            </a:avLst>
          </a:prstGeom>
          <a:solidFill>
            <a:schemeClr val="accent1"/>
          </a:solidFill>
          <a:ln w="12700">
            <a:solidFill>
              <a:schemeClr val="accent1"/>
            </a:solidFill>
            <a:prstDash val="solid"/>
          </a:ln>
        </p:spPr>
      </p:sp>
      <p:sp>
        <p:nvSpPr>
          <p:cNvPr id="16" name="Text 14"/>
          <p:cNvSpPr txBox="1"/>
          <p:nvPr/>
        </p:nvSpPr>
        <p:spPr>
          <a:xfrm>
            <a:off x="1495044" y="3886200"/>
            <a:ext cx="941832" cy="457200"/>
          </a:xfrm>
          <a:prstGeom prst="rect">
            <a:avLst/>
          </a:prstGeom>
          <a:noFill/>
          <a:ln/>
        </p:spPr>
        <p:txBody>
          <a:bodyPr wrap="square" lIns="0" tIns="0" rIns="0" bIns="0" rtlCol="0" anchor="ctr"/>
          <a:lstStyle/>
          <a:p>
            <a:pPr algn="ctr" indent="0" marL="0">
              <a:buNone/>
            </a:pPr>
            <a:r>
              <a:rPr lang="en-US" sz="1100" b="1" dirty="0">
                <a:solidFill>
                  <a:schemeClr val="bg1"/>
                </a:solidFill>
              </a:rPr>
              <a:t>aggressive</a:t>
            </a:r>
            <a:endParaRPr lang="en-US" sz="1100" dirty="0"/>
          </a:p>
        </p:txBody>
      </p:sp>
      <p:sp>
        <p:nvSpPr>
          <p:cNvPr id="17" name="personality"/>
          <p:cNvSpPr/>
          <p:nvPr/>
        </p:nvSpPr>
        <p:spPr>
          <a:xfrm>
            <a:off x="2532888" y="3886200"/>
            <a:ext cx="941832" cy="457200"/>
          </a:xfrm>
          <a:prstGeom prst="roundRect">
            <a:avLst>
              <a:gd name="adj" fmla="val 24000"/>
            </a:avLst>
          </a:prstGeom>
          <a:solidFill>
            <a:schemeClr val="accent1"/>
          </a:solidFill>
          <a:ln w="12700">
            <a:solidFill>
              <a:schemeClr val="accent1"/>
            </a:solidFill>
            <a:prstDash val="solid"/>
          </a:ln>
        </p:spPr>
      </p:sp>
      <p:sp>
        <p:nvSpPr>
          <p:cNvPr id="18" name="Text 16"/>
          <p:cNvSpPr txBox="1"/>
          <p:nvPr/>
        </p:nvSpPr>
        <p:spPr>
          <a:xfrm>
            <a:off x="2532888" y="3886200"/>
            <a:ext cx="941832" cy="457200"/>
          </a:xfrm>
          <a:prstGeom prst="rect">
            <a:avLst/>
          </a:prstGeom>
          <a:noFill/>
          <a:ln/>
        </p:spPr>
        <p:txBody>
          <a:bodyPr wrap="square" lIns="0" tIns="0" rIns="0" bIns="0" rtlCol="0" anchor="ctr"/>
          <a:lstStyle/>
          <a:p>
            <a:pPr algn="ctr" indent="0" marL="0">
              <a:buNone/>
            </a:pPr>
            <a:r>
              <a:rPr lang="en-US" sz="1100" b="1" dirty="0">
                <a:solidFill>
                  <a:schemeClr val="bg1"/>
                </a:solidFill>
              </a:rPr>
              <a:t>gambler</a:t>
            </a:r>
            <a:endParaRPr lang="en-US" sz="1100" dirty="0"/>
          </a:p>
        </p:txBody>
      </p:sp>
      <p:sp>
        <p:nvSpPr>
          <p:cNvPr id="19" name="personality"/>
          <p:cNvSpPr/>
          <p:nvPr/>
        </p:nvSpPr>
        <p:spPr>
          <a:xfrm>
            <a:off x="3570732" y="3886200"/>
            <a:ext cx="941832" cy="457200"/>
          </a:xfrm>
          <a:prstGeom prst="roundRect">
            <a:avLst>
              <a:gd name="adj" fmla="val 24000"/>
            </a:avLst>
          </a:prstGeom>
          <a:solidFill>
            <a:schemeClr val="accent1"/>
          </a:solidFill>
          <a:ln w="12700">
            <a:solidFill>
              <a:schemeClr val="accent1"/>
            </a:solidFill>
            <a:prstDash val="solid"/>
          </a:ln>
        </p:spPr>
      </p:sp>
      <p:sp>
        <p:nvSpPr>
          <p:cNvPr id="20" name="Text 18"/>
          <p:cNvSpPr txBox="1"/>
          <p:nvPr/>
        </p:nvSpPr>
        <p:spPr>
          <a:xfrm>
            <a:off x="3570732" y="3886200"/>
            <a:ext cx="941832" cy="457200"/>
          </a:xfrm>
          <a:prstGeom prst="rect">
            <a:avLst/>
          </a:prstGeom>
          <a:noFill/>
          <a:ln/>
        </p:spPr>
        <p:txBody>
          <a:bodyPr wrap="square" lIns="0" tIns="0" rIns="0" bIns="0" rtlCol="0" anchor="ctr"/>
          <a:lstStyle/>
          <a:p>
            <a:pPr algn="ctr" indent="0" marL="0">
              <a:buNone/>
            </a:pPr>
            <a:r>
              <a:rPr lang="en-US" sz="1100" b="1" dirty="0">
                <a:solidFill>
                  <a:schemeClr val="bg1"/>
                </a:solidFill>
              </a:rPr>
              <a:t>cautious</a:t>
            </a:r>
            <a:endParaRPr lang="en-US" sz="1100" dirty="0"/>
          </a:p>
        </p:txBody>
      </p:sp>
      <p:sp>
        <p:nvSpPr>
          <p:cNvPr id="21" name="personality"/>
          <p:cNvSpPr/>
          <p:nvPr/>
        </p:nvSpPr>
        <p:spPr>
          <a:xfrm>
            <a:off x="4608576" y="3886200"/>
            <a:ext cx="941832" cy="457200"/>
          </a:xfrm>
          <a:prstGeom prst="roundRect">
            <a:avLst>
              <a:gd name="adj" fmla="val 24000"/>
            </a:avLst>
          </a:prstGeom>
          <a:solidFill>
            <a:schemeClr val="accent1"/>
          </a:solidFill>
          <a:ln w="12700">
            <a:solidFill>
              <a:schemeClr val="accent1"/>
            </a:solidFill>
            <a:prstDash val="solid"/>
          </a:ln>
        </p:spPr>
      </p:sp>
      <p:sp>
        <p:nvSpPr>
          <p:cNvPr id="22" name="Text 20"/>
          <p:cNvSpPr txBox="1"/>
          <p:nvPr/>
        </p:nvSpPr>
        <p:spPr>
          <a:xfrm>
            <a:off x="4608576" y="3886200"/>
            <a:ext cx="941832" cy="457200"/>
          </a:xfrm>
          <a:prstGeom prst="rect">
            <a:avLst/>
          </a:prstGeom>
          <a:noFill/>
          <a:ln/>
        </p:spPr>
        <p:txBody>
          <a:bodyPr wrap="square" lIns="0" tIns="0" rIns="0" bIns="0" rtlCol="0" anchor="ctr"/>
          <a:lstStyle/>
          <a:p>
            <a:pPr algn="ctr" indent="0" marL="0">
              <a:buNone/>
            </a:pPr>
            <a:r>
              <a:rPr lang="en-US" sz="1100" b="1" dirty="0">
                <a:solidFill>
                  <a:schemeClr val="bg1"/>
                </a:solidFill>
              </a:rPr>
              <a:t>unpredictable</a:t>
            </a:r>
            <a:endParaRPr lang="en-US" sz="1100" dirty="0"/>
          </a:p>
        </p:txBody>
      </p:sp>
      <p:sp>
        <p:nvSpPr>
          <p:cNvPr id="23" name="personality"/>
          <p:cNvSpPr/>
          <p:nvPr/>
        </p:nvSpPr>
        <p:spPr>
          <a:xfrm>
            <a:off x="5646420" y="3886200"/>
            <a:ext cx="941832" cy="457200"/>
          </a:xfrm>
          <a:prstGeom prst="roundRect">
            <a:avLst>
              <a:gd name="adj" fmla="val 24000"/>
            </a:avLst>
          </a:prstGeom>
          <a:solidFill>
            <a:schemeClr val="accent1"/>
          </a:solidFill>
          <a:ln w="12700">
            <a:solidFill>
              <a:schemeClr val="accent1"/>
            </a:solidFill>
            <a:prstDash val="solid"/>
          </a:ln>
        </p:spPr>
      </p:sp>
      <p:sp>
        <p:nvSpPr>
          <p:cNvPr id="24" name="Text 22"/>
          <p:cNvSpPr txBox="1"/>
          <p:nvPr/>
        </p:nvSpPr>
        <p:spPr>
          <a:xfrm>
            <a:off x="5646420" y="3886200"/>
            <a:ext cx="941832" cy="457200"/>
          </a:xfrm>
          <a:prstGeom prst="rect">
            <a:avLst/>
          </a:prstGeom>
          <a:noFill/>
          <a:ln/>
        </p:spPr>
        <p:txBody>
          <a:bodyPr wrap="square" lIns="0" tIns="0" rIns="0" bIns="0" rtlCol="0" anchor="ctr"/>
          <a:lstStyle/>
          <a:p>
            <a:pPr algn="ctr" indent="0" marL="0">
              <a:buNone/>
            </a:pPr>
            <a:r>
              <a:rPr lang="en-US" sz="1100" b="1" dirty="0">
                <a:solidFill>
                  <a:schemeClr val="bg1"/>
                </a:solidFill>
              </a:rPr>
              <a:t>explorer</a:t>
            </a:r>
            <a:endParaRPr lang="en-US" sz="1100" dirty="0"/>
          </a:p>
        </p:txBody>
      </p:sp>
      <p:sp>
        <p:nvSpPr>
          <p:cNvPr id="25" name="personality"/>
          <p:cNvSpPr/>
          <p:nvPr/>
        </p:nvSpPr>
        <p:spPr>
          <a:xfrm>
            <a:off x="6684264" y="3886200"/>
            <a:ext cx="941832" cy="457200"/>
          </a:xfrm>
          <a:prstGeom prst="roundRect">
            <a:avLst>
              <a:gd name="adj" fmla="val 24000"/>
            </a:avLst>
          </a:prstGeom>
          <a:solidFill>
            <a:schemeClr val="accent1"/>
          </a:solidFill>
          <a:ln w="12700">
            <a:solidFill>
              <a:schemeClr val="accent1"/>
            </a:solidFill>
            <a:prstDash val="solid"/>
          </a:ln>
        </p:spPr>
      </p:sp>
      <p:sp>
        <p:nvSpPr>
          <p:cNvPr id="26" name="Text 24"/>
          <p:cNvSpPr txBox="1"/>
          <p:nvPr/>
        </p:nvSpPr>
        <p:spPr>
          <a:xfrm>
            <a:off x="6684264" y="3886200"/>
            <a:ext cx="941832" cy="457200"/>
          </a:xfrm>
          <a:prstGeom prst="rect">
            <a:avLst/>
          </a:prstGeom>
          <a:noFill/>
          <a:ln/>
        </p:spPr>
        <p:txBody>
          <a:bodyPr wrap="square" lIns="0" tIns="0" rIns="0" bIns="0" rtlCol="0" anchor="ctr"/>
          <a:lstStyle/>
          <a:p>
            <a:pPr algn="ctr" indent="0" marL="0">
              <a:buNone/>
            </a:pPr>
            <a:r>
              <a:rPr lang="en-US" sz="1100" b="1" dirty="0">
                <a:solidFill>
                  <a:schemeClr val="bg1"/>
                </a:solidFill>
              </a:rPr>
              <a:t>focused</a:t>
            </a:r>
            <a:endParaRPr lang="en-US" sz="1100" dirty="0"/>
          </a:p>
        </p:txBody>
      </p:sp>
      <p:sp>
        <p:nvSpPr>
          <p:cNvPr id="27" name="personality"/>
          <p:cNvSpPr/>
          <p:nvPr/>
        </p:nvSpPr>
        <p:spPr>
          <a:xfrm>
            <a:off x="7722108" y="3886200"/>
            <a:ext cx="941832" cy="457200"/>
          </a:xfrm>
          <a:prstGeom prst="roundRect">
            <a:avLst>
              <a:gd name="adj" fmla="val 24000"/>
            </a:avLst>
          </a:prstGeom>
          <a:solidFill>
            <a:schemeClr val="accent1"/>
          </a:solidFill>
          <a:ln w="12700">
            <a:solidFill>
              <a:schemeClr val="accent1"/>
            </a:solidFill>
            <a:prstDash val="solid"/>
          </a:ln>
        </p:spPr>
      </p:sp>
      <p:sp>
        <p:nvSpPr>
          <p:cNvPr id="28" name="Text 26"/>
          <p:cNvSpPr txBox="1"/>
          <p:nvPr/>
        </p:nvSpPr>
        <p:spPr>
          <a:xfrm>
            <a:off x="7722108" y="3886200"/>
            <a:ext cx="941832" cy="457200"/>
          </a:xfrm>
          <a:prstGeom prst="rect">
            <a:avLst/>
          </a:prstGeom>
          <a:noFill/>
          <a:ln/>
        </p:spPr>
        <p:txBody>
          <a:bodyPr wrap="square" lIns="0" tIns="0" rIns="0" bIns="0" rtlCol="0" anchor="ctr"/>
          <a:lstStyle/>
          <a:p>
            <a:pPr algn="ctr" indent="0" marL="0">
              <a:buNone/>
            </a:pPr>
            <a:r>
              <a:rPr lang="en-US" sz="1100" b="1" dirty="0">
                <a:solidFill>
                  <a:schemeClr val="bg1"/>
                </a:solidFill>
              </a:rPr>
              <a:t>info_seeker</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 personality is a vector of hyperparameters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280160"/>
                <a:gridCol w="685800"/>
                <a:gridCol w="868680"/>
                <a:gridCol w="822960"/>
                <a:gridCol w="822960"/>
                <a:gridCol w="960120"/>
                <a:gridCol w="2788920"/>
              </a:tblGrid>
              <a:tr h="365760">
                <a:tc>
                  <a:txBody>
                    <a:bodyPr/>
                    <a:lstStyle/>
                    <a:p>
                      <a:pPr algn="ctr" indent="0" marL="0">
                        <a:buNone/>
                      </a:pPr>
                      <a:r>
                        <a:rPr lang="en-US" sz="1200" b="1" dirty="0">
                          <a:solidFill>
                            <a:schemeClr val="bg1"/>
                          </a:solidFill>
                        </a:rPr>
                        <a:t>Personality</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mean</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worst (min)</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best (max)</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threshold</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exploration</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other</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r>
              <a:tr h="365760">
                <a:tc>
                  <a:txBody>
                    <a:bodyPr/>
                    <a:lstStyle/>
                    <a:p>
                      <a:pPr algn="l" indent="0" marL="0">
                        <a:buNone/>
                      </a:pPr>
                      <a:r>
                        <a:rPr lang="en-US" sz="1200" b="1" dirty="0">
                          <a:solidFill>
                            <a:schemeClr val="tx1"/>
                          </a:solidFill>
                        </a:rPr>
                        <a:t>default</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0.7</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0.3</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1000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StrangeFish2 tournament settings</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365760">
                <a:tc>
                  <a:txBody>
                    <a:bodyPr/>
                    <a:lstStyle/>
                    <a:p>
                      <a:pPr algn="l" indent="0" marL="0">
                        <a:buNone/>
                      </a:pPr>
                      <a:r>
                        <a:rPr lang="en-US" sz="1200" b="1" dirty="0">
                          <a:solidFill>
                            <a:schemeClr val="tx1"/>
                          </a:solidFill>
                        </a:rPr>
                        <a:t>aggressive</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0.6</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0.1</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0.3</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larger king-attack rewards</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r h="365760">
                <a:tc>
                  <a:txBody>
                    <a:bodyPr/>
                    <a:lstStyle/>
                    <a:p>
                      <a:pPr algn="l" indent="0" marL="0">
                        <a:buNone/>
                      </a:pPr>
                      <a:r>
                        <a:rPr lang="en-US" sz="1200" b="1" dirty="0">
                          <a:solidFill>
                            <a:schemeClr val="tx1"/>
                          </a:solidFill>
                        </a:rPr>
                        <a:t>gambler</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0.5</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0.5</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1000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ignores worst cases when sensing</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365760">
                <a:tc>
                  <a:txBody>
                    <a:bodyPr/>
                    <a:lstStyle/>
                    <a:p>
                      <a:pPr algn="l" indent="0" marL="0">
                        <a:buNone/>
                      </a:pPr>
                      <a:r>
                        <a:rPr lang="en-US" sz="1200" b="1" dirty="0">
                          <a:solidFill>
                            <a:schemeClr val="tx1"/>
                          </a:solidFill>
                        </a:rPr>
                        <a:t>cautious</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0.5</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0.5</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pessimistic, low-variance sensing</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r h="365760">
                <a:tc>
                  <a:txBody>
                    <a:bodyPr/>
                    <a:lstStyle/>
                    <a:p>
                      <a:pPr algn="l" indent="0" marL="0">
                        <a:buNone/>
                      </a:pPr>
                      <a:r>
                        <a:rPr lang="en-US" sz="1200" b="1" dirty="0">
                          <a:solidFill>
                            <a:schemeClr val="tx1"/>
                          </a:solidFill>
                        </a:rPr>
                        <a:t>unpredictable</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0.7</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0.3</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40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1000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wide band of near-best moves</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365760">
                <a:tc>
                  <a:txBody>
                    <a:bodyPr/>
                    <a:lstStyle/>
                    <a:p>
                      <a:pPr algn="l" indent="0" marL="0">
                        <a:buNone/>
                      </a:pPr>
                      <a:r>
                        <a:rPr lang="en-US" sz="1200" b="1" dirty="0">
                          <a:solidFill>
                            <a:schemeClr val="tx1"/>
                          </a:solidFill>
                        </a:rPr>
                        <a:t>explorer</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0.7</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0.3</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5000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evaluates rare moves more</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r h="365760">
                <a:tc>
                  <a:txBody>
                    <a:bodyPr/>
                    <a:lstStyle/>
                    <a:p>
                      <a:pPr algn="l" indent="0" marL="0">
                        <a:buNone/>
                      </a:pPr>
                      <a:r>
                        <a:rPr lang="en-US" sz="1200" b="1" dirty="0">
                          <a:solidFill>
                            <a:schemeClr val="tx1"/>
                          </a:solidFill>
                        </a:rPr>
                        <a:t>focused</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0.7</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0.3</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200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concentrates on the best moves</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365760">
                <a:tc>
                  <a:txBody>
                    <a:bodyPr/>
                    <a:lstStyle/>
                    <a:p>
                      <a:pPr algn="l" indent="0" marL="0">
                        <a:buNone/>
                      </a:pPr>
                      <a:r>
                        <a:rPr lang="en-US" sz="1200" b="1" dirty="0">
                          <a:solidFill>
                            <a:schemeClr val="tx1"/>
                          </a:solidFill>
                        </a:rPr>
                        <a:t>info_seeker</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0.7</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0.3</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1000</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80% of turn time on sensing</a:t>
                      </a:r>
                      <a:endParaRPr lang="en-US" sz="1200" dirty="0"/>
                    </a:p>
                  </a:txBody>
                  <a:tcPr marL="54864" marR="54864" marT="54864" marB="54864"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217920" cy="1234440"/>
          </a:xfrm>
          <a:prstGeom prst="rect">
            <a:avLst/>
          </a:prstGeom>
          <a:noFill/>
          <a:ln/>
        </p:spPr>
        <p:txBody>
          <a:bodyPr wrap="square" lIns="0" tIns="0" rIns="0" bIns="0" rtlCol="0" anchor="b"/>
          <a:lstStyle/>
          <a:p>
            <a:pPr algn="l" indent="0" marL="0">
              <a:buNone/>
            </a:pPr>
            <a:r>
              <a:rPr lang="en-US" sz="3600" b="1" dirty="0">
                <a:solidFill>
                  <a:schemeClr val="bg1"/>
                </a:solidFill>
              </a:rPr>
              <a:t>The Generative Reward Machine</a:t>
            </a:r>
            <a:endParaRPr lang="en-US" sz="3600" dirty="0"/>
          </a:p>
        </p:txBody>
      </p:sp>
      <p:sp>
        <p:nvSpPr>
          <p:cNvPr id="3" name="Text 0"/>
          <p:cNvSpPr/>
          <p:nvPr>
            <p:ph idx="101" type="body" hasCustomPrompt="1"/>
          </p:nvPr>
        </p:nvSpPr>
        <p:spPr>
          <a:xfrm>
            <a:off x="548640" y="3200400"/>
            <a:ext cx="6217920" cy="731520"/>
          </a:xfrm>
          <a:prstGeom prst="rect">
            <a:avLst/>
          </a:prstGeom>
          <a:noFill/>
          <a:ln/>
        </p:spPr>
        <p:txBody>
          <a:bodyPr wrap="square" lIns="0" tIns="0" rIns="0" bIns="0" rtlCol="0" anchor="t"/>
          <a:lstStyle/>
          <a:p>
            <a:pPr algn="l" indent="0" marL="0">
              <a:buNone/>
            </a:pPr>
            <a:r>
              <a:rPr lang="en-US" sz="1600" dirty="0">
                <a:solidFill>
                  <a:schemeClr val="bg2"/>
                </a:solidFill>
              </a:rPr>
              <a:t>Learning which personality to play, when the true state is hidden</a:t>
            </a:r>
            <a:endParaRPr lang="en-US" sz="1600" dirty="0"/>
          </a:p>
        </p:txBody>
      </p:sp>
      <p:sp>
        <p:nvSpPr>
          <p:cNvPr id="4" name="badge"/>
          <p:cNvSpPr/>
          <p:nvPr/>
        </p:nvSpPr>
        <p:spPr>
          <a:xfrm>
            <a:off x="548640" y="1005840"/>
            <a:ext cx="566928" cy="566928"/>
          </a:xfrm>
          <a:prstGeom prst="ellipse">
            <a:avLst/>
          </a:prstGeom>
          <a:solidFill>
            <a:schemeClr val="accent2"/>
          </a:solidFill>
          <a:ln w="12700">
            <a:solidFill>
              <a:schemeClr val="accent2"/>
            </a:solidFill>
            <a:prstDash val="solid"/>
          </a:ln>
        </p:spPr>
      </p:sp>
      <p:sp>
        <p:nvSpPr>
          <p:cNvPr id="5" name="Text 3"/>
          <p:cNvSpPr txBox="1"/>
          <p:nvPr/>
        </p:nvSpPr>
        <p:spPr>
          <a:xfrm>
            <a:off x="548640" y="1005840"/>
            <a:ext cx="566928" cy="566928"/>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Why a standard reward machine is not enough</a:t>
            </a:r>
            <a:endParaRPr lang="en-US" sz="2800" dirty="0"/>
          </a:p>
        </p:txBody>
      </p:sp>
      <p:sp>
        <p:nvSpPr>
          <p:cNvPr id="3" name="rm card"/>
          <p:cNvSpPr/>
          <p:nvPr/>
        </p:nvSpPr>
        <p:spPr>
          <a:xfrm>
            <a:off x="457200" y="1097280"/>
            <a:ext cx="397764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85800" y="1280160"/>
            <a:ext cx="3566160" cy="411480"/>
          </a:xfrm>
          <a:prstGeom prst="rect">
            <a:avLst/>
          </a:prstGeom>
          <a:noFill/>
          <a:ln/>
        </p:spPr>
        <p:txBody>
          <a:bodyPr wrap="square" lIns="0" tIns="0" rIns="0" bIns="0" rtlCol="0" anchor="t"/>
          <a:lstStyle/>
          <a:p>
            <a:pPr indent="0" marL="0">
              <a:buNone/>
            </a:pPr>
            <a:r>
              <a:rPr lang="en-US" sz="1900" b="1" dirty="0">
                <a:solidFill>
                  <a:schemeClr val="tx2"/>
                </a:solidFill>
              </a:rPr>
              <a:t>Reward machine</a:t>
            </a:r>
            <a:endParaRPr lang="en-US" sz="1900" dirty="0"/>
          </a:p>
        </p:txBody>
      </p:sp>
      <p:sp>
        <p:nvSpPr>
          <p:cNvPr id="5" name="Text 3"/>
          <p:cNvSpPr txBox="1"/>
          <p:nvPr/>
        </p:nvSpPr>
        <p:spPr>
          <a:xfrm>
            <a:off x="685800" y="178308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finite-state machine that exposes the structure of the reward.</a:t>
            </a:r>
            <a:endParaRPr lang="en-US" sz="1400" dirty="0"/>
          </a:p>
          <a:p>
            <a:pPr marL="342900" indent="-342900">
              <a:spcAft>
                <a:spcPts val="600"/>
              </a:spcAft>
              <a:buSzPct val="100000"/>
              <a:buChar char="•"/>
            </a:pPr>
            <a:r>
              <a:rPr lang="en-US" sz="1400" dirty="0">
                <a:solidFill>
                  <a:schemeClr val="tx1"/>
                </a:solidFill>
              </a:rPr>
              <a:t>A labelling function reads events from the true state.</a:t>
            </a:r>
            <a:endParaRPr lang="en-US" sz="1400" dirty="0"/>
          </a:p>
          <a:p>
            <a:pPr marL="342900" indent="-342900">
              <a:spcAft>
                <a:spcPts val="600"/>
              </a:spcAft>
              <a:buSzPct val="100000"/>
              <a:buChar char="•"/>
            </a:pPr>
            <a:r>
              <a:rPr lang="en-US" sz="1400" dirty="0">
                <a:solidFill>
                  <a:schemeClr val="tx1"/>
                </a:solidFill>
              </a:rPr>
              <a:t>Each machine state has its own reward; learning over (state, machine state) becomes Markovian.</a:t>
            </a:r>
            <a:endParaRPr lang="en-US" sz="1400" dirty="0"/>
          </a:p>
        </p:txBody>
      </p:sp>
      <p:sp>
        <p:nvSpPr>
          <p:cNvPr id="6" name="rbc card"/>
          <p:cNvSpPr/>
          <p:nvPr/>
        </p:nvSpPr>
        <p:spPr>
          <a:xfrm>
            <a:off x="4709160" y="1097280"/>
            <a:ext cx="3977640" cy="3429000"/>
          </a:xfrm>
          <a:prstGeom prst="roundRect">
            <a:avLst>
              <a:gd name="adj" fmla="val 2133"/>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7" name="Text 5"/>
          <p:cNvSpPr txBox="1"/>
          <p:nvPr/>
        </p:nvSpPr>
        <p:spPr>
          <a:xfrm>
            <a:off x="4937760" y="1280160"/>
            <a:ext cx="3566160" cy="411480"/>
          </a:xfrm>
          <a:prstGeom prst="rect">
            <a:avLst/>
          </a:prstGeom>
          <a:noFill/>
          <a:ln/>
        </p:spPr>
        <p:txBody>
          <a:bodyPr wrap="square" lIns="0" tIns="0" rIns="0" bIns="0" rtlCol="0" anchor="t"/>
          <a:lstStyle/>
          <a:p>
            <a:pPr indent="0" marL="0">
              <a:buNone/>
            </a:pPr>
            <a:r>
              <a:rPr lang="en-US" sz="1900" b="1" dirty="0">
                <a:solidFill>
                  <a:schemeClr val="accent2"/>
                </a:solidFill>
              </a:rPr>
              <a:t>What RBC gives us</a:t>
            </a:r>
            <a:endParaRPr lang="en-US" sz="1900" dirty="0"/>
          </a:p>
        </p:txBody>
      </p:sp>
      <p:sp>
        <p:nvSpPr>
          <p:cNvPr id="8" name="Text 6"/>
          <p:cNvSpPr txBox="1"/>
          <p:nvPr/>
        </p:nvSpPr>
        <p:spPr>
          <a:xfrm>
            <a:off x="4937760" y="178308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No true state: the board and the opponent are hidden.</a:t>
            </a:r>
            <a:endParaRPr lang="en-US" sz="1400" dirty="0"/>
          </a:p>
          <a:p>
            <a:pPr marL="342900" indent="-342900">
              <a:spcAft>
                <a:spcPts val="600"/>
              </a:spcAft>
              <a:buSzPct val="100000"/>
              <a:buChar char="•"/>
            </a:pPr>
            <a:r>
              <a:rPr lang="en-US" sz="1400" dirty="0">
                <a:solidFill>
                  <a:schemeClr val="bg1"/>
                </a:solidFill>
              </a:rPr>
              <a:t>No reliable events: observations are partial and noisy.</a:t>
            </a:r>
            <a:endParaRPr lang="en-US" sz="1400" dirty="0"/>
          </a:p>
          <a:p>
            <a:pPr marL="342900" indent="-342900">
              <a:spcAft>
                <a:spcPts val="600"/>
              </a:spcAft>
              <a:buSzPct val="100000"/>
              <a:buChar char="•"/>
            </a:pPr>
            <a:r>
              <a:rPr lang="en-US" sz="1400" dirty="0">
                <a:solidFill>
                  <a:schemeClr val="bg1"/>
                </a:solidFill>
              </a:rPr>
              <a:t>No stable reward: one game's result changes from game to game for the same choice.</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GRM: rewards defined on an estimated state</a:t>
            </a:r>
            <a:endParaRPr lang="en-US" sz="2800" dirty="0"/>
          </a:p>
        </p:txBody>
      </p:sp>
      <p:sp>
        <p:nvSpPr>
          <p:cNvPr id="3" name="grm step"/>
          <p:cNvSpPr/>
          <p:nvPr/>
        </p:nvSpPr>
        <p:spPr>
          <a:xfrm>
            <a:off x="457200" y="1234440"/>
            <a:ext cx="1463040" cy="1188720"/>
          </a:xfrm>
          <a:prstGeom prst="roundRect">
            <a:avLst>
              <a:gd name="adj" fmla="val 7692"/>
            </a:avLst>
          </a:prstGeom>
          <a:solidFill>
            <a:schemeClr val="accent4"/>
          </a:solidFill>
          <a:ln w="12700">
            <a:solidFill>
              <a:schemeClr val="accent4"/>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530352" y="1353312"/>
            <a:ext cx="1316736" cy="457200"/>
          </a:xfrm>
          <a:prstGeom prst="rect">
            <a:avLst/>
          </a:prstGeom>
          <a:noFill/>
          <a:ln/>
        </p:spPr>
        <p:txBody>
          <a:bodyPr wrap="square" lIns="0" tIns="0" rIns="0" bIns="0" rtlCol="0" anchor="t"/>
          <a:lstStyle/>
          <a:p>
            <a:pPr algn="ctr" indent="0" marL="0">
              <a:buNone/>
            </a:pPr>
            <a:r>
              <a:rPr lang="en-US" sz="1400" b="1" dirty="0">
                <a:solidFill>
                  <a:schemeClr val="bg1"/>
                </a:solidFill>
              </a:rPr>
              <a:t>true state ts</a:t>
            </a:r>
            <a:endParaRPr lang="en-US" sz="1400" dirty="0"/>
          </a:p>
        </p:txBody>
      </p:sp>
      <p:sp>
        <p:nvSpPr>
          <p:cNvPr id="5" name="Text 3"/>
          <p:cNvSpPr txBox="1"/>
          <p:nvPr/>
        </p:nvSpPr>
        <p:spPr>
          <a:xfrm>
            <a:off x="530352" y="1828800"/>
            <a:ext cx="1316736" cy="548640"/>
          </a:xfrm>
          <a:prstGeom prst="rect">
            <a:avLst/>
          </a:prstGeom>
          <a:noFill/>
          <a:ln/>
        </p:spPr>
        <p:txBody>
          <a:bodyPr wrap="square" lIns="0" tIns="0" rIns="0" bIns="0" rtlCol="0" anchor="t"/>
          <a:lstStyle/>
          <a:p>
            <a:pPr algn="ctr" indent="0" marL="0">
              <a:buNone/>
            </a:pPr>
            <a:r>
              <a:rPr lang="en-US" sz="1200" dirty="0">
                <a:solidFill>
                  <a:schemeClr val="bg1"/>
                </a:solidFill>
              </a:rPr>
              <a:t>hidden board and opponent</a:t>
            </a:r>
            <a:endParaRPr lang="en-US" sz="1200" dirty="0"/>
          </a:p>
        </p:txBody>
      </p:sp>
      <p:sp>
        <p:nvSpPr>
          <p:cNvPr id="6" name="arrow"/>
          <p:cNvSpPr/>
          <p:nvPr/>
        </p:nvSpPr>
        <p:spPr>
          <a:xfrm>
            <a:off x="1929384" y="1682496"/>
            <a:ext cx="219456" cy="292608"/>
          </a:xfrm>
          <a:prstGeom prst="rightArrow">
            <a:avLst/>
          </a:prstGeom>
          <a:solidFill>
            <a:schemeClr val="accent2"/>
          </a:solidFill>
          <a:ln w="12700">
            <a:solidFill>
              <a:schemeClr val="accent2"/>
            </a:solidFill>
            <a:prstDash val="solid"/>
          </a:ln>
        </p:spPr>
      </p:sp>
      <p:sp>
        <p:nvSpPr>
          <p:cNvPr id="7" name="grm step"/>
          <p:cNvSpPr/>
          <p:nvPr/>
        </p:nvSpPr>
        <p:spPr>
          <a:xfrm>
            <a:off x="2157984" y="1234440"/>
            <a:ext cx="1463040" cy="1188720"/>
          </a:xfrm>
          <a:prstGeom prst="roundRect">
            <a:avLst>
              <a:gd name="adj" fmla="val 7692"/>
            </a:avLst>
          </a:prstGeom>
          <a:solidFill>
            <a:schemeClr val="accent1"/>
          </a:solidFill>
          <a:ln w="12700">
            <a:solidFill>
              <a:schemeClr val="accent1"/>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2231136" y="1353312"/>
            <a:ext cx="1316736" cy="457200"/>
          </a:xfrm>
          <a:prstGeom prst="rect">
            <a:avLst/>
          </a:prstGeom>
          <a:noFill/>
          <a:ln/>
        </p:spPr>
        <p:txBody>
          <a:bodyPr wrap="square" lIns="0" tIns="0" rIns="0" bIns="0" rtlCol="0" anchor="t"/>
          <a:lstStyle/>
          <a:p>
            <a:pPr algn="ctr" indent="0" marL="0">
              <a:buNone/>
            </a:pPr>
            <a:r>
              <a:rPr lang="en-US" sz="1400" b="1" dirty="0">
                <a:solidFill>
                  <a:schemeClr val="bg1"/>
                </a:solidFill>
              </a:rPr>
              <a:t>observation os</a:t>
            </a:r>
            <a:endParaRPr lang="en-US" sz="1400" dirty="0"/>
          </a:p>
        </p:txBody>
      </p:sp>
      <p:sp>
        <p:nvSpPr>
          <p:cNvPr id="9" name="Text 7"/>
          <p:cNvSpPr txBox="1"/>
          <p:nvPr/>
        </p:nvSpPr>
        <p:spPr>
          <a:xfrm>
            <a:off x="2231136" y="1828800"/>
            <a:ext cx="1316736" cy="548640"/>
          </a:xfrm>
          <a:prstGeom prst="rect">
            <a:avLst/>
          </a:prstGeom>
          <a:noFill/>
          <a:ln/>
        </p:spPr>
        <p:txBody>
          <a:bodyPr wrap="square" lIns="0" tIns="0" rIns="0" bIns="0" rtlCol="0" anchor="t"/>
          <a:lstStyle/>
          <a:p>
            <a:pPr algn="ctr" indent="0" marL="0">
              <a:buNone/>
            </a:pPr>
            <a:r>
              <a:rPr lang="en-US" sz="1200" dirty="0">
                <a:solidFill>
                  <a:schemeClr val="bg1"/>
                </a:solidFill>
              </a:rPr>
              <a:t>board-set size each turn</a:t>
            </a:r>
            <a:endParaRPr lang="en-US" sz="1200" dirty="0"/>
          </a:p>
        </p:txBody>
      </p:sp>
      <p:sp>
        <p:nvSpPr>
          <p:cNvPr id="10" name="arrow"/>
          <p:cNvSpPr/>
          <p:nvPr/>
        </p:nvSpPr>
        <p:spPr>
          <a:xfrm>
            <a:off x="3630168" y="1682496"/>
            <a:ext cx="219456" cy="292608"/>
          </a:xfrm>
          <a:prstGeom prst="rightArrow">
            <a:avLst/>
          </a:prstGeom>
          <a:solidFill>
            <a:schemeClr val="accent2"/>
          </a:solidFill>
          <a:ln w="12700">
            <a:solidFill>
              <a:schemeClr val="accent2"/>
            </a:solidFill>
            <a:prstDash val="solid"/>
          </a:ln>
        </p:spPr>
      </p:sp>
      <p:sp>
        <p:nvSpPr>
          <p:cNvPr id="11" name="grm step"/>
          <p:cNvSpPr/>
          <p:nvPr/>
        </p:nvSpPr>
        <p:spPr>
          <a:xfrm>
            <a:off x="3858768" y="1234440"/>
            <a:ext cx="1463040" cy="1188720"/>
          </a:xfrm>
          <a:prstGeom prst="roundRect">
            <a:avLst>
              <a:gd name="adj" fmla="val 7692"/>
            </a:avLst>
          </a:prstGeom>
          <a:solidFill>
            <a:schemeClr val="accent5"/>
          </a:solidFill>
          <a:ln w="12700">
            <a:solidFill>
              <a:schemeClr val="accent5"/>
            </a:solidFill>
            <a:prstDash val="solid"/>
          </a:ln>
          <a:effectLst>
            <a:outerShdw sx="100000" sy="100000" kx="0" ky="0" algn="bl" rotWithShape="0" blurRad="76200" dist="25400" dir="5400000">
              <a:srgbClr val="000000">
                <a:alpha val="18000"/>
              </a:srgbClr>
            </a:outerShdw>
          </a:effectLst>
        </p:spPr>
      </p:sp>
      <p:sp>
        <p:nvSpPr>
          <p:cNvPr id="12" name="Text 10"/>
          <p:cNvSpPr txBox="1"/>
          <p:nvPr/>
        </p:nvSpPr>
        <p:spPr>
          <a:xfrm>
            <a:off x="3931920" y="1353312"/>
            <a:ext cx="1316736" cy="457200"/>
          </a:xfrm>
          <a:prstGeom prst="rect">
            <a:avLst/>
          </a:prstGeom>
          <a:noFill/>
          <a:ln/>
        </p:spPr>
        <p:txBody>
          <a:bodyPr wrap="square" lIns="0" tIns="0" rIns="0" bIns="0" rtlCol="0" anchor="t"/>
          <a:lstStyle/>
          <a:p>
            <a:pPr algn="ctr" indent="0" marL="0">
              <a:buNone/>
            </a:pPr>
            <a:r>
              <a:rPr lang="en-US" sz="1400" b="1" dirty="0">
                <a:solidFill>
                  <a:schemeClr val="bg1"/>
                </a:solidFill>
              </a:rPr>
              <a:t>estimator</a:t>
            </a:r>
            <a:endParaRPr lang="en-US" sz="1400" dirty="0"/>
          </a:p>
        </p:txBody>
      </p:sp>
      <p:sp>
        <p:nvSpPr>
          <p:cNvPr id="13" name="Text 11"/>
          <p:cNvSpPr txBox="1"/>
          <p:nvPr/>
        </p:nvSpPr>
        <p:spPr>
          <a:xfrm>
            <a:off x="3931920" y="1828800"/>
            <a:ext cx="1316736" cy="548640"/>
          </a:xfrm>
          <a:prstGeom prst="rect">
            <a:avLst/>
          </a:prstGeom>
          <a:noFill/>
          <a:ln/>
        </p:spPr>
        <p:txBody>
          <a:bodyPr wrap="square" lIns="0" tIns="0" rIns="0" bIns="0" rtlCol="0" anchor="t"/>
          <a:lstStyle/>
          <a:p>
            <a:pPr algn="ctr" indent="0" marL="0">
              <a:buNone/>
            </a:pPr>
            <a:r>
              <a:rPr lang="en-US" sz="1200" dirty="0">
                <a:solidFill>
                  <a:schemeClr val="bg1"/>
                </a:solidFill>
              </a:rPr>
              <a:t>20 autoencoders</a:t>
            </a:r>
            <a:endParaRPr lang="en-US" sz="1200" dirty="0"/>
          </a:p>
        </p:txBody>
      </p:sp>
      <p:sp>
        <p:nvSpPr>
          <p:cNvPr id="14" name="arrow"/>
          <p:cNvSpPr/>
          <p:nvPr/>
        </p:nvSpPr>
        <p:spPr>
          <a:xfrm>
            <a:off x="5330952" y="1682496"/>
            <a:ext cx="219456" cy="292608"/>
          </a:xfrm>
          <a:prstGeom prst="rightArrow">
            <a:avLst/>
          </a:prstGeom>
          <a:solidFill>
            <a:schemeClr val="accent2"/>
          </a:solidFill>
          <a:ln w="12700">
            <a:solidFill>
              <a:schemeClr val="accent2"/>
            </a:solidFill>
            <a:prstDash val="solid"/>
          </a:ln>
        </p:spPr>
      </p:sp>
      <p:sp>
        <p:nvSpPr>
          <p:cNvPr id="15" name="grm step"/>
          <p:cNvSpPr/>
          <p:nvPr/>
        </p:nvSpPr>
        <p:spPr>
          <a:xfrm>
            <a:off x="5559552" y="1234440"/>
            <a:ext cx="1463040" cy="1188720"/>
          </a:xfrm>
          <a:prstGeom prst="roundRect">
            <a:avLst>
              <a:gd name="adj" fmla="val 7692"/>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16" name="Text 14"/>
          <p:cNvSpPr txBox="1"/>
          <p:nvPr/>
        </p:nvSpPr>
        <p:spPr>
          <a:xfrm>
            <a:off x="5632704" y="1353312"/>
            <a:ext cx="1316736" cy="457200"/>
          </a:xfrm>
          <a:prstGeom prst="rect">
            <a:avLst/>
          </a:prstGeom>
          <a:noFill/>
          <a:ln/>
        </p:spPr>
        <p:txBody>
          <a:bodyPr wrap="square" lIns="0" tIns="0" rIns="0" bIns="0" rtlCol="0" anchor="t"/>
          <a:lstStyle/>
          <a:p>
            <a:pPr algn="ctr" indent="0" marL="0">
              <a:buNone/>
            </a:pPr>
            <a:r>
              <a:rPr lang="en-US" sz="1400" b="1" dirty="0">
                <a:solidFill>
                  <a:schemeClr val="bg1"/>
                </a:solidFill>
              </a:rPr>
              <a:t>estimate es</a:t>
            </a:r>
            <a:endParaRPr lang="en-US" sz="1400" dirty="0"/>
          </a:p>
        </p:txBody>
      </p:sp>
      <p:sp>
        <p:nvSpPr>
          <p:cNvPr id="17" name="Text 15"/>
          <p:cNvSpPr txBox="1"/>
          <p:nvPr/>
        </p:nvSpPr>
        <p:spPr>
          <a:xfrm>
            <a:off x="5632704" y="1828800"/>
            <a:ext cx="1316736" cy="548640"/>
          </a:xfrm>
          <a:prstGeom prst="rect">
            <a:avLst/>
          </a:prstGeom>
          <a:noFill/>
          <a:ln/>
        </p:spPr>
        <p:txBody>
          <a:bodyPr wrap="square" lIns="0" tIns="0" rIns="0" bIns="0" rtlCol="0" anchor="t"/>
          <a:lstStyle/>
          <a:p>
            <a:pPr algn="ctr" indent="0" marL="0">
              <a:buNone/>
            </a:pPr>
            <a:r>
              <a:rPr lang="en-US" sz="1200" dirty="0">
                <a:solidFill>
                  <a:schemeClr val="bg1"/>
                </a:solidFill>
              </a:rPr>
              <a:t>opponent class 1–20</a:t>
            </a:r>
            <a:endParaRPr lang="en-US" sz="1200" dirty="0"/>
          </a:p>
        </p:txBody>
      </p:sp>
      <p:sp>
        <p:nvSpPr>
          <p:cNvPr id="18" name="arrow"/>
          <p:cNvSpPr/>
          <p:nvPr/>
        </p:nvSpPr>
        <p:spPr>
          <a:xfrm>
            <a:off x="7031736" y="1682496"/>
            <a:ext cx="219456" cy="292608"/>
          </a:xfrm>
          <a:prstGeom prst="rightArrow">
            <a:avLst/>
          </a:prstGeom>
          <a:solidFill>
            <a:schemeClr val="accent2"/>
          </a:solidFill>
          <a:ln w="12700">
            <a:solidFill>
              <a:schemeClr val="accent2"/>
            </a:solidFill>
            <a:prstDash val="solid"/>
          </a:ln>
        </p:spPr>
      </p:sp>
      <p:sp>
        <p:nvSpPr>
          <p:cNvPr id="19" name="grm step"/>
          <p:cNvSpPr/>
          <p:nvPr/>
        </p:nvSpPr>
        <p:spPr>
          <a:xfrm>
            <a:off x="7260336" y="1234440"/>
            <a:ext cx="1463040" cy="1188720"/>
          </a:xfrm>
          <a:prstGeom prst="roundRect">
            <a:avLst>
              <a:gd name="adj" fmla="val 7692"/>
            </a:avLst>
          </a:prstGeom>
          <a:solidFill>
            <a:schemeClr val="accent6"/>
          </a:solidFill>
          <a:ln w="12700">
            <a:solidFill>
              <a:schemeClr val="accent6"/>
            </a:solidFill>
            <a:prstDash val="solid"/>
          </a:ln>
          <a:effectLst>
            <a:outerShdw sx="100000" sy="100000" kx="0" ky="0" algn="bl" rotWithShape="0" blurRad="76200" dist="25400" dir="5400000">
              <a:srgbClr val="000000">
                <a:alpha val="18000"/>
              </a:srgbClr>
            </a:outerShdw>
          </a:effectLst>
        </p:spPr>
      </p:sp>
      <p:sp>
        <p:nvSpPr>
          <p:cNvPr id="20" name="Text 18"/>
          <p:cNvSpPr txBox="1"/>
          <p:nvPr/>
        </p:nvSpPr>
        <p:spPr>
          <a:xfrm>
            <a:off x="7333488" y="1353312"/>
            <a:ext cx="1316736" cy="457200"/>
          </a:xfrm>
          <a:prstGeom prst="rect">
            <a:avLst/>
          </a:prstGeom>
          <a:noFill/>
          <a:ln/>
        </p:spPr>
        <p:txBody>
          <a:bodyPr wrap="square" lIns="0" tIns="0" rIns="0" bIns="0" rtlCol="0" anchor="t"/>
          <a:lstStyle/>
          <a:p>
            <a:pPr algn="ctr" indent="0" marL="0">
              <a:buNone/>
            </a:pPr>
            <a:r>
              <a:rPr lang="en-US" sz="1400" b="1" dirty="0">
                <a:solidFill>
                  <a:schemeClr val="bg1"/>
                </a:solidFill>
              </a:rPr>
              <a:t>machine state u</a:t>
            </a:r>
            <a:endParaRPr lang="en-US" sz="1400" dirty="0"/>
          </a:p>
        </p:txBody>
      </p:sp>
      <p:sp>
        <p:nvSpPr>
          <p:cNvPr id="21" name="Text 19"/>
          <p:cNvSpPr txBox="1"/>
          <p:nvPr/>
        </p:nvSpPr>
        <p:spPr>
          <a:xfrm>
            <a:off x="7333488" y="1828800"/>
            <a:ext cx="1316736" cy="548640"/>
          </a:xfrm>
          <a:prstGeom prst="rect">
            <a:avLst/>
          </a:prstGeom>
          <a:noFill/>
          <a:ln/>
        </p:spPr>
        <p:txBody>
          <a:bodyPr wrap="square" lIns="0" tIns="0" rIns="0" bIns="0" rtlCol="0" anchor="t"/>
          <a:lstStyle/>
          <a:p>
            <a:pPr algn="ctr" indent="0" marL="0">
              <a:buNone/>
            </a:pPr>
            <a:r>
              <a:rPr lang="en-US" sz="1200" dirty="0">
                <a:solidFill>
                  <a:schemeClr val="bg1"/>
                </a:solidFill>
              </a:rPr>
              <a:t>reward function r_u</a:t>
            </a:r>
            <a:endParaRPr lang="en-US" sz="1200" dirty="0"/>
          </a:p>
        </p:txBody>
      </p:sp>
      <p:sp>
        <p:nvSpPr>
          <p:cNvPr id="22" name="Text 20"/>
          <p:cNvSpPr txBox="1"/>
          <p:nvPr/>
        </p:nvSpPr>
        <p:spPr>
          <a:xfrm>
            <a:off x="457200" y="2743200"/>
            <a:ext cx="8229600" cy="320040"/>
          </a:xfrm>
          <a:prstGeom prst="rect">
            <a:avLst/>
          </a:prstGeom>
          <a:noFill/>
          <a:ln/>
        </p:spPr>
        <p:txBody>
          <a:bodyPr wrap="square" lIns="0" tIns="0" rIns="0" bIns="0" rtlCol="0" anchor="t"/>
          <a:lstStyle/>
          <a:p>
            <a:pPr indent="0" marL="0">
              <a:buNone/>
            </a:pPr>
            <a:r>
              <a:rPr lang="en-US" sz="1600" b="1" dirty="0">
                <a:solidFill>
                  <a:schemeClr val="tx1"/>
                </a:solidFill>
              </a:rPr>
              <a:t>Two parts</a:t>
            </a:r>
            <a:endParaRPr lang="en-US" sz="1600" dirty="0"/>
          </a:p>
        </p:txBody>
      </p:sp>
      <p:sp>
        <p:nvSpPr>
          <p:cNvPr id="23" name="Text 21"/>
          <p:cNvSpPr txBox="1"/>
          <p:nvPr/>
        </p:nvSpPr>
        <p:spPr>
          <a:xfrm>
            <a:off x="457200" y="3108960"/>
            <a:ext cx="822960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An estimator (or mapping) turns noisy, partial observations into a small, stable, designed state space.</a:t>
            </a:r>
            <a:endParaRPr lang="en-US" sz="1400" dirty="0"/>
          </a:p>
          <a:p>
            <a:pPr marL="342900" indent="-342900">
              <a:spcAft>
                <a:spcPts val="600"/>
              </a:spcAft>
              <a:buSzPct val="100000"/>
              <a:buChar char="•"/>
            </a:pPr>
            <a:r>
              <a:rPr lang="en-US" sz="1400" dirty="0">
                <a:solidFill>
                  <a:schemeClr val="tx1"/>
                </a:solidFill>
              </a:rPr>
              <a:t>A reward machine defined on that space: its labelling function, transitions and rewards all use estimated transitions es → es′.</a:t>
            </a:r>
            <a:endParaRPr lang="en-US" sz="1400" dirty="0"/>
          </a:p>
          <a:p>
            <a:pPr marL="342900" indent="-342900">
              <a:spcAft>
                <a:spcPts val="600"/>
              </a:spcAft>
              <a:buSzPct val="100000"/>
              <a:buChar char="•"/>
            </a:pPr>
            <a:r>
              <a:rPr lang="en-US" sz="1400" dirty="0">
                <a:solidFill>
                  <a:schemeClr val="tx1"/>
                </a:solidFill>
              </a:rPr>
              <a:t>It is “generative” because it generates this intermediate state space and a stationary reward on it.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Reward machine vs Generative reward machine</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2926080"/>
                <a:gridCol w="3291840"/>
              </a:tblGrid>
              <a:tr h="502920">
                <a:tc>
                  <a:txBody>
                    <a:bodyPr/>
                    <a:lstStyle/>
                    <a:p>
                      <a:pPr indent="0" marL="0">
                        <a:buNone/>
                      </a:pPr>
                      <a:r>
                        <a:rPr lang="en-US" sz="1300" b="1" dirty="0">
                          <a:solidFill>
                            <a:schemeClr val="bg1"/>
                          </a:solidFill>
                        </a:rPr>
                        <a:t>Component</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Reward machine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Generative reward machine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1"/>
                          </a:solidFill>
                        </a:rPr>
                        <a:t>State basis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True states S (or observations)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Designed, estimated states 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Reward function</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 transitions S × A × 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 transitions E × A × 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Labelling function</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Events from true transitions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Events from estimated transitions</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Truth assignment</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Read from the true state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Read from the estimated state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Goal</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Markovian over S × U</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Approximately Markovian when S is unavailable</a:t>
                      </a:r>
                      <a:endParaRPr lang="en-US" sz="1300" dirty="0"/>
                    </a:p>
                  </a:txBody>
                  <a:tcPr marL="73152" marR="73152" marT="73152" marB="73152"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The estimator: one autoencoder per opponent class</a:t>
            </a:r>
            <a:endParaRPr lang="en-US" sz="2800" dirty="0"/>
          </a:p>
        </p:txBody>
      </p:sp>
      <p:pic>
        <p:nvPicPr>
          <p:cNvPr id="3" name="trace plot" descr="Board-set size per turn against weak and strong opponents">    </p:cNvPr>
          <p:cNvPicPr>
            <a:picLocks noChangeAspect="1"/>
          </p:cNvPicPr>
          <p:nvPr/>
        </p:nvPicPr>
        <p:blipFill>
          <a:blip r:embed="rId1"/>
          <a:stretch>
            <a:fillRect/>
          </a:stretch>
        </p:blipFill>
        <p:spPr>
          <a:xfrm>
            <a:off x="365760" y="1051560"/>
            <a:ext cx="4937760" cy="2968116"/>
          </a:xfrm>
          <a:prstGeom prst="rect">
            <a:avLst/>
          </a:prstGeom>
        </p:spPr>
      </p:pic>
      <p:sp>
        <p:nvSpPr>
          <p:cNvPr id="4" name="Text 1"/>
          <p:cNvSpPr txBox="1"/>
          <p:nvPr/>
        </p:nvSpPr>
        <p:spPr>
          <a:xfrm>
            <a:off x="457200" y="4160520"/>
            <a:ext cx="4846320" cy="411480"/>
          </a:xfrm>
          <a:prstGeom prst="rect">
            <a:avLst/>
          </a:prstGeom>
          <a:noFill/>
          <a:ln/>
        </p:spPr>
        <p:txBody>
          <a:bodyPr wrap="square" lIns="0" tIns="0" rIns="0" bIns="0" rtlCol="0" anchor="t"/>
          <a:lstStyle/>
          <a:p>
            <a:pPr indent="0" marL="0">
              <a:buNone/>
            </a:pPr>
            <a:r>
              <a:rPr lang="en-US" sz="1100" i="1" dirty="0">
                <a:solidFill>
                  <a:schemeClr val="accent4"/>
                </a:solidFill>
              </a:rPr>
              <a:t>Board-set size per turn against a weak and a strong opponent (example traces from a short test run).</a:t>
            </a:r>
            <a:endParaRPr lang="en-US" sz="1100" dirty="0"/>
          </a:p>
        </p:txBody>
      </p:sp>
      <p:sp>
        <p:nvSpPr>
          <p:cNvPr id="5" name="badge"/>
          <p:cNvSpPr/>
          <p:nvPr/>
        </p:nvSpPr>
        <p:spPr>
          <a:xfrm>
            <a:off x="5532120" y="1143000"/>
            <a:ext cx="420624" cy="420624"/>
          </a:xfrm>
          <a:prstGeom prst="ellipse">
            <a:avLst/>
          </a:prstGeom>
          <a:solidFill>
            <a:schemeClr val="accent5"/>
          </a:solidFill>
          <a:ln w="12700">
            <a:solidFill>
              <a:schemeClr val="accent5"/>
            </a:solidFill>
            <a:prstDash val="solid"/>
          </a:ln>
        </p:spPr>
      </p:sp>
      <p:sp>
        <p:nvSpPr>
          <p:cNvPr id="6" name="Text 3"/>
          <p:cNvSpPr txBox="1"/>
          <p:nvPr/>
        </p:nvSpPr>
        <p:spPr>
          <a:xfrm>
            <a:off x="5532120" y="11430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6108192" y="1124712"/>
            <a:ext cx="2578608" cy="320040"/>
          </a:xfrm>
          <a:prstGeom prst="rect">
            <a:avLst/>
          </a:prstGeom>
          <a:noFill/>
          <a:ln/>
        </p:spPr>
        <p:txBody>
          <a:bodyPr wrap="square" lIns="0" tIns="0" rIns="0" bIns="0" rtlCol="0" anchor="t"/>
          <a:lstStyle/>
          <a:p>
            <a:pPr indent="0" marL="0">
              <a:buNone/>
            </a:pPr>
            <a:r>
              <a:rPr lang="en-US" sz="1600" b="1" dirty="0">
                <a:solidFill>
                  <a:schemeClr val="tx1"/>
                </a:solidFill>
              </a:rPr>
              <a:t>Train</a:t>
            </a:r>
            <a:endParaRPr lang="en-US" sz="1600" dirty="0"/>
          </a:p>
        </p:txBody>
      </p:sp>
      <p:sp>
        <p:nvSpPr>
          <p:cNvPr id="8" name="Text 5"/>
          <p:cNvSpPr txBox="1"/>
          <p:nvPr/>
        </p:nvSpPr>
        <p:spPr>
          <a:xfrm>
            <a:off x="6108192" y="1453896"/>
            <a:ext cx="2578608" cy="731520"/>
          </a:xfrm>
          <a:prstGeom prst="rect">
            <a:avLst/>
          </a:prstGeom>
          <a:noFill/>
          <a:ln/>
        </p:spPr>
        <p:txBody>
          <a:bodyPr wrap="square" lIns="0" tIns="0" rIns="0" bIns="0" rtlCol="0" anchor="t"/>
          <a:lstStyle/>
          <a:p>
            <a:pPr indent="0" marL="0">
              <a:buNone/>
            </a:pPr>
            <a:r>
              <a:rPr lang="en-US" sz="1300" dirty="0">
                <a:solidFill>
                  <a:schemeClr val="accent4"/>
                </a:solidFill>
              </a:rPr>
              <a:t>20 autoencoders, one per Stockfish skill level; each only sees games against its own level.</a:t>
            </a:r>
            <a:endParaRPr lang="en-US" sz="1300" dirty="0"/>
          </a:p>
        </p:txBody>
      </p:sp>
      <p:sp>
        <p:nvSpPr>
          <p:cNvPr id="9" name="badge"/>
          <p:cNvSpPr/>
          <p:nvPr/>
        </p:nvSpPr>
        <p:spPr>
          <a:xfrm>
            <a:off x="5532120" y="2221992"/>
            <a:ext cx="420624" cy="420624"/>
          </a:xfrm>
          <a:prstGeom prst="ellipse">
            <a:avLst/>
          </a:prstGeom>
          <a:solidFill>
            <a:schemeClr val="accent5"/>
          </a:solidFill>
          <a:ln w="12700">
            <a:solidFill>
              <a:schemeClr val="accent5"/>
            </a:solidFill>
            <a:prstDash val="solid"/>
          </a:ln>
        </p:spPr>
      </p:sp>
      <p:sp>
        <p:nvSpPr>
          <p:cNvPr id="10" name="Text 7"/>
          <p:cNvSpPr txBox="1"/>
          <p:nvPr/>
        </p:nvSpPr>
        <p:spPr>
          <a:xfrm>
            <a:off x="5532120" y="222199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6108192" y="2203704"/>
            <a:ext cx="2578608" cy="320040"/>
          </a:xfrm>
          <a:prstGeom prst="rect">
            <a:avLst/>
          </a:prstGeom>
          <a:noFill/>
          <a:ln/>
        </p:spPr>
        <p:txBody>
          <a:bodyPr wrap="square" lIns="0" tIns="0" rIns="0" bIns="0" rtlCol="0" anchor="t"/>
          <a:lstStyle/>
          <a:p>
            <a:pPr indent="0" marL="0">
              <a:buNone/>
            </a:pPr>
            <a:r>
              <a:rPr lang="en-US" sz="1600" b="1" dirty="0">
                <a:solidFill>
                  <a:schemeClr val="tx1"/>
                </a:solidFill>
              </a:rPr>
              <a:t>Encode</a:t>
            </a:r>
            <a:endParaRPr lang="en-US" sz="1600" dirty="0"/>
          </a:p>
        </p:txBody>
      </p:sp>
      <p:sp>
        <p:nvSpPr>
          <p:cNvPr id="12" name="Text 9"/>
          <p:cNvSpPr txBox="1"/>
          <p:nvPr/>
        </p:nvSpPr>
        <p:spPr>
          <a:xfrm>
            <a:off x="6108192" y="2532888"/>
            <a:ext cx="2578608" cy="731520"/>
          </a:xfrm>
          <a:prstGeom prst="rect">
            <a:avLst/>
          </a:prstGeom>
          <a:noFill/>
          <a:ln/>
        </p:spPr>
        <p:txBody>
          <a:bodyPr wrap="square" lIns="0" tIns="0" rIns="0" bIns="0" rtlCol="0" anchor="t"/>
          <a:lstStyle/>
          <a:p>
            <a:pPr indent="0" marL="0">
              <a:buNone/>
            </a:pPr>
            <a:r>
              <a:rPr lang="en-US" sz="1300" dirty="0">
                <a:solidFill>
                  <a:schemeClr val="accent4"/>
                </a:solidFill>
              </a:rPr>
              <a:t>Per turn: boards at start, after sensing, after moving (log-scaled), on partial games too.</a:t>
            </a:r>
            <a:endParaRPr lang="en-US" sz="1300" dirty="0"/>
          </a:p>
        </p:txBody>
      </p:sp>
      <p:sp>
        <p:nvSpPr>
          <p:cNvPr id="13" name="badge"/>
          <p:cNvSpPr/>
          <p:nvPr/>
        </p:nvSpPr>
        <p:spPr>
          <a:xfrm>
            <a:off x="5532120" y="3300984"/>
            <a:ext cx="420624" cy="420624"/>
          </a:xfrm>
          <a:prstGeom prst="ellipse">
            <a:avLst/>
          </a:prstGeom>
          <a:solidFill>
            <a:schemeClr val="accent5"/>
          </a:solidFill>
          <a:ln w="12700">
            <a:solidFill>
              <a:schemeClr val="accent5"/>
            </a:solidFill>
            <a:prstDash val="solid"/>
          </a:ln>
        </p:spPr>
      </p:sp>
      <p:sp>
        <p:nvSpPr>
          <p:cNvPr id="14" name="Text 11"/>
          <p:cNvSpPr txBox="1"/>
          <p:nvPr/>
        </p:nvSpPr>
        <p:spPr>
          <a:xfrm>
            <a:off x="5532120" y="330098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6108192" y="3282696"/>
            <a:ext cx="2578608" cy="320040"/>
          </a:xfrm>
          <a:prstGeom prst="rect">
            <a:avLst/>
          </a:prstGeom>
          <a:noFill/>
          <a:ln/>
        </p:spPr>
        <p:txBody>
          <a:bodyPr wrap="square" lIns="0" tIns="0" rIns="0" bIns="0" rtlCol="0" anchor="t"/>
          <a:lstStyle/>
          <a:p>
            <a:pPr indent="0" marL="0">
              <a:buNone/>
            </a:pPr>
            <a:r>
              <a:rPr lang="en-US" sz="1600" b="1" dirty="0">
                <a:solidFill>
                  <a:schemeClr val="tx1"/>
                </a:solidFill>
              </a:rPr>
              <a:t>Classify</a:t>
            </a:r>
            <a:endParaRPr lang="en-US" sz="1600" dirty="0"/>
          </a:p>
        </p:txBody>
      </p:sp>
      <p:sp>
        <p:nvSpPr>
          <p:cNvPr id="16" name="Text 13"/>
          <p:cNvSpPr txBox="1"/>
          <p:nvPr/>
        </p:nvSpPr>
        <p:spPr>
          <a:xfrm>
            <a:off x="6108192" y="3611880"/>
            <a:ext cx="2578608" cy="731520"/>
          </a:xfrm>
          <a:prstGeom prst="rect">
            <a:avLst/>
          </a:prstGeom>
          <a:noFill/>
          <a:ln/>
        </p:spPr>
        <p:txBody>
          <a:bodyPr wrap="square" lIns="0" tIns="0" rIns="0" bIns="0" rtlCol="0" anchor="t"/>
          <a:lstStyle/>
          <a:p>
            <a:pPr indent="0" marL="0">
              <a:buNone/>
            </a:pPr>
            <a:r>
              <a:rPr lang="en-US" sz="1300" dirty="0">
                <a:solidFill>
                  <a:schemeClr val="accent4"/>
                </a:solidFill>
              </a:rPr>
              <a:t>Feed the game so far to all 20; the lowest reconstruction error names the opponent class.</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Training the GRM: a batch reward machine</a:t>
            </a:r>
            <a:endParaRPr lang="en-US" sz="2800" dirty="0"/>
          </a:p>
        </p:txBody>
      </p:sp>
      <p:sp>
        <p:nvSpPr>
          <p:cNvPr id="3" name="training step"/>
          <p:cNvSpPr/>
          <p:nvPr/>
        </p:nvSpPr>
        <p:spPr>
          <a:xfrm>
            <a:off x="457200" y="1188720"/>
            <a:ext cx="1481328" cy="2011680"/>
          </a:xfrm>
          <a:prstGeom prst="roundRect">
            <a:avLst>
              <a:gd name="adj" fmla="val 493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 name="badge"/>
          <p:cNvSpPr/>
          <p:nvPr/>
        </p:nvSpPr>
        <p:spPr>
          <a:xfrm>
            <a:off x="969264" y="1325880"/>
            <a:ext cx="457200" cy="457200"/>
          </a:xfrm>
          <a:prstGeom prst="ellipse">
            <a:avLst/>
          </a:prstGeom>
          <a:solidFill>
            <a:schemeClr val="accent5"/>
          </a:solidFill>
          <a:ln w="12700">
            <a:solidFill>
              <a:schemeClr val="accent5"/>
            </a:solidFill>
            <a:prstDash val="solid"/>
          </a:ln>
        </p:spPr>
      </p:sp>
      <p:sp>
        <p:nvSpPr>
          <p:cNvPr id="5" name="Text 3"/>
          <p:cNvSpPr txBox="1"/>
          <p:nvPr/>
        </p:nvSpPr>
        <p:spPr>
          <a:xfrm>
            <a:off x="969264"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548640" y="1874520"/>
            <a:ext cx="1298448" cy="347472"/>
          </a:xfrm>
          <a:prstGeom prst="rect">
            <a:avLst/>
          </a:prstGeom>
          <a:noFill/>
          <a:ln/>
        </p:spPr>
        <p:txBody>
          <a:bodyPr wrap="square" lIns="0" tIns="0" rIns="0" bIns="0" rtlCol="0" anchor="t"/>
          <a:lstStyle/>
          <a:p>
            <a:pPr algn="ctr" indent="0" marL="0">
              <a:buNone/>
            </a:pPr>
            <a:r>
              <a:rPr lang="en-US" sz="1600" b="1" dirty="0">
                <a:solidFill>
                  <a:schemeClr val="tx1"/>
                </a:solidFill>
              </a:rPr>
              <a:t>Pick</a:t>
            </a:r>
            <a:endParaRPr lang="en-US" sz="1600" dirty="0"/>
          </a:p>
        </p:txBody>
      </p:sp>
      <p:sp>
        <p:nvSpPr>
          <p:cNvPr id="7" name="Text 5"/>
          <p:cNvSpPr txBox="1"/>
          <p:nvPr/>
        </p:nvSpPr>
        <p:spPr>
          <a:xfrm>
            <a:off x="548640" y="2240280"/>
            <a:ext cx="1298448" cy="914400"/>
          </a:xfrm>
          <a:prstGeom prst="rect">
            <a:avLst/>
          </a:prstGeom>
          <a:noFill/>
          <a:ln/>
        </p:spPr>
        <p:txBody>
          <a:bodyPr wrap="square" lIns="0" tIns="0" rIns="0" bIns="0" rtlCol="0" anchor="t"/>
          <a:lstStyle/>
          <a:p>
            <a:pPr algn="ctr" indent="0" marL="0">
              <a:buNone/>
            </a:pPr>
            <a:r>
              <a:rPr lang="en-US" sz="1200" dirty="0">
                <a:solidFill>
                  <a:schemeClr val="accent4"/>
                </a:solidFill>
              </a:rPr>
              <a:t>opponent class s and personality a (UCB1, ε-greedy or sweep)</a:t>
            </a:r>
            <a:endParaRPr lang="en-US" sz="1200" dirty="0"/>
          </a:p>
        </p:txBody>
      </p:sp>
      <p:sp>
        <p:nvSpPr>
          <p:cNvPr id="8" name="arrow"/>
          <p:cNvSpPr/>
          <p:nvPr/>
        </p:nvSpPr>
        <p:spPr>
          <a:xfrm>
            <a:off x="1947672" y="2057400"/>
            <a:ext cx="201168" cy="292608"/>
          </a:xfrm>
          <a:prstGeom prst="rightArrow">
            <a:avLst/>
          </a:prstGeom>
          <a:solidFill>
            <a:schemeClr val="accent2"/>
          </a:solidFill>
          <a:ln w="12700">
            <a:solidFill>
              <a:schemeClr val="accent2"/>
            </a:solidFill>
            <a:prstDash val="solid"/>
          </a:ln>
        </p:spPr>
      </p:sp>
      <p:sp>
        <p:nvSpPr>
          <p:cNvPr id="9" name="training step"/>
          <p:cNvSpPr/>
          <p:nvPr/>
        </p:nvSpPr>
        <p:spPr>
          <a:xfrm>
            <a:off x="2157984" y="1188720"/>
            <a:ext cx="1481328" cy="2011680"/>
          </a:xfrm>
          <a:prstGeom prst="roundRect">
            <a:avLst>
              <a:gd name="adj" fmla="val 493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0" name="badge"/>
          <p:cNvSpPr/>
          <p:nvPr/>
        </p:nvSpPr>
        <p:spPr>
          <a:xfrm>
            <a:off x="2670048" y="1325880"/>
            <a:ext cx="457200" cy="457200"/>
          </a:xfrm>
          <a:prstGeom prst="ellipse">
            <a:avLst/>
          </a:prstGeom>
          <a:solidFill>
            <a:schemeClr val="accent5"/>
          </a:solidFill>
          <a:ln w="12700">
            <a:solidFill>
              <a:schemeClr val="accent5"/>
            </a:solidFill>
            <a:prstDash val="solid"/>
          </a:ln>
        </p:spPr>
      </p:sp>
      <p:sp>
        <p:nvSpPr>
          <p:cNvPr id="11" name="Text 9"/>
          <p:cNvSpPr txBox="1"/>
          <p:nvPr/>
        </p:nvSpPr>
        <p:spPr>
          <a:xfrm>
            <a:off x="2670048"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2249424" y="1874520"/>
            <a:ext cx="1298448" cy="347472"/>
          </a:xfrm>
          <a:prstGeom prst="rect">
            <a:avLst/>
          </a:prstGeom>
          <a:noFill/>
          <a:ln/>
        </p:spPr>
        <p:txBody>
          <a:bodyPr wrap="square" lIns="0" tIns="0" rIns="0" bIns="0" rtlCol="0" anchor="t"/>
          <a:lstStyle/>
          <a:p>
            <a:pPr algn="ctr" indent="0" marL="0">
              <a:buNone/>
            </a:pPr>
            <a:r>
              <a:rPr lang="en-US" sz="1600" b="1" dirty="0">
                <a:solidFill>
                  <a:schemeClr val="tx1"/>
                </a:solidFill>
              </a:rPr>
              <a:t>Play</a:t>
            </a:r>
            <a:endParaRPr lang="en-US" sz="1600" dirty="0"/>
          </a:p>
        </p:txBody>
      </p:sp>
      <p:sp>
        <p:nvSpPr>
          <p:cNvPr id="13" name="Text 11"/>
          <p:cNvSpPr txBox="1"/>
          <p:nvPr/>
        </p:nvSpPr>
        <p:spPr>
          <a:xfrm>
            <a:off x="2249424" y="2240280"/>
            <a:ext cx="1298448" cy="914400"/>
          </a:xfrm>
          <a:prstGeom prst="rect">
            <a:avLst/>
          </a:prstGeom>
          <a:noFill/>
          <a:ln/>
        </p:spPr>
        <p:txBody>
          <a:bodyPr wrap="square" lIns="0" tIns="0" rIns="0" bIns="0" rtlCol="0" anchor="t"/>
          <a:lstStyle/>
          <a:p>
            <a:pPr algn="ctr" indent="0" marL="0">
              <a:buNone/>
            </a:pPr>
            <a:r>
              <a:rPr lang="en-US" sz="1200" dirty="0">
                <a:solidFill>
                  <a:schemeClr val="accent4"/>
                </a:solidFill>
              </a:rPr>
              <a:t>100 games against an opponent of class s</a:t>
            </a:r>
            <a:endParaRPr lang="en-US" sz="1200" dirty="0"/>
          </a:p>
        </p:txBody>
      </p:sp>
      <p:sp>
        <p:nvSpPr>
          <p:cNvPr id="14" name="arrow"/>
          <p:cNvSpPr/>
          <p:nvPr/>
        </p:nvSpPr>
        <p:spPr>
          <a:xfrm>
            <a:off x="3648456" y="2057400"/>
            <a:ext cx="201168" cy="292608"/>
          </a:xfrm>
          <a:prstGeom prst="rightArrow">
            <a:avLst/>
          </a:prstGeom>
          <a:solidFill>
            <a:schemeClr val="accent2"/>
          </a:solidFill>
          <a:ln w="12700">
            <a:solidFill>
              <a:schemeClr val="accent2"/>
            </a:solidFill>
            <a:prstDash val="solid"/>
          </a:ln>
        </p:spPr>
      </p:sp>
      <p:sp>
        <p:nvSpPr>
          <p:cNvPr id="15" name="training step"/>
          <p:cNvSpPr/>
          <p:nvPr/>
        </p:nvSpPr>
        <p:spPr>
          <a:xfrm>
            <a:off x="3858768" y="1188720"/>
            <a:ext cx="1481328" cy="2011680"/>
          </a:xfrm>
          <a:prstGeom prst="roundRect">
            <a:avLst>
              <a:gd name="adj" fmla="val 493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6" name="badge"/>
          <p:cNvSpPr/>
          <p:nvPr/>
        </p:nvSpPr>
        <p:spPr>
          <a:xfrm>
            <a:off x="4370832" y="1325880"/>
            <a:ext cx="457200" cy="457200"/>
          </a:xfrm>
          <a:prstGeom prst="ellipse">
            <a:avLst/>
          </a:prstGeom>
          <a:solidFill>
            <a:schemeClr val="accent5"/>
          </a:solidFill>
          <a:ln w="12700">
            <a:solidFill>
              <a:schemeClr val="accent5"/>
            </a:solidFill>
            <a:prstDash val="solid"/>
          </a:ln>
        </p:spPr>
      </p:sp>
      <p:sp>
        <p:nvSpPr>
          <p:cNvPr id="17" name="Text 15"/>
          <p:cNvSpPr txBox="1"/>
          <p:nvPr/>
        </p:nvSpPr>
        <p:spPr>
          <a:xfrm>
            <a:off x="4370832"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3950208" y="1874520"/>
            <a:ext cx="1298448" cy="347472"/>
          </a:xfrm>
          <a:prstGeom prst="rect">
            <a:avLst/>
          </a:prstGeom>
          <a:noFill/>
          <a:ln/>
        </p:spPr>
        <p:txBody>
          <a:bodyPr wrap="square" lIns="0" tIns="0" rIns="0" bIns="0" rtlCol="0" anchor="t"/>
          <a:lstStyle/>
          <a:p>
            <a:pPr algn="ctr" indent="0" marL="0">
              <a:buNone/>
            </a:pPr>
            <a:r>
              <a:rPr lang="en-US" sz="1600" b="1" dirty="0">
                <a:solidFill>
                  <a:schemeClr val="tx1"/>
                </a:solidFill>
              </a:rPr>
              <a:t>Collect</a:t>
            </a:r>
            <a:endParaRPr lang="en-US" sz="1600" dirty="0"/>
          </a:p>
        </p:txBody>
      </p:sp>
      <p:sp>
        <p:nvSpPr>
          <p:cNvPr id="19" name="Text 17"/>
          <p:cNvSpPr txBox="1"/>
          <p:nvPr/>
        </p:nvSpPr>
        <p:spPr>
          <a:xfrm>
            <a:off x="3950208" y="2240280"/>
            <a:ext cx="1298448" cy="914400"/>
          </a:xfrm>
          <a:prstGeom prst="rect">
            <a:avLst/>
          </a:prstGeom>
          <a:noFill/>
          <a:ln/>
        </p:spPr>
        <p:txBody>
          <a:bodyPr wrap="square" lIns="0" tIns="0" rIns="0" bIns="0" rtlCol="0" anchor="t"/>
          <a:lstStyle/>
          <a:p>
            <a:pPr algn="ctr" indent="0" marL="0">
              <a:buNone/>
            </a:pPr>
            <a:r>
              <a:rPr lang="en-US" sz="1200" dirty="0">
                <a:solidFill>
                  <a:schemeClr val="accent4"/>
                </a:solidFill>
              </a:rPr>
              <a:t>machine stores win / draw / loss; reward 0 while collecting</a:t>
            </a:r>
            <a:endParaRPr lang="en-US" sz="1200" dirty="0"/>
          </a:p>
        </p:txBody>
      </p:sp>
      <p:sp>
        <p:nvSpPr>
          <p:cNvPr id="20" name="arrow"/>
          <p:cNvSpPr/>
          <p:nvPr/>
        </p:nvSpPr>
        <p:spPr>
          <a:xfrm>
            <a:off x="5349240" y="2057400"/>
            <a:ext cx="201168" cy="292608"/>
          </a:xfrm>
          <a:prstGeom prst="rightArrow">
            <a:avLst/>
          </a:prstGeom>
          <a:solidFill>
            <a:schemeClr val="accent2"/>
          </a:solidFill>
          <a:ln w="12700">
            <a:solidFill>
              <a:schemeClr val="accent2"/>
            </a:solidFill>
            <a:prstDash val="solid"/>
          </a:ln>
        </p:spPr>
      </p:sp>
      <p:sp>
        <p:nvSpPr>
          <p:cNvPr id="21" name="training step"/>
          <p:cNvSpPr/>
          <p:nvPr/>
        </p:nvSpPr>
        <p:spPr>
          <a:xfrm>
            <a:off x="5559552" y="1188720"/>
            <a:ext cx="1481328" cy="2011680"/>
          </a:xfrm>
          <a:prstGeom prst="roundRect">
            <a:avLst>
              <a:gd name="adj" fmla="val 4938"/>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22" name="badge"/>
          <p:cNvSpPr/>
          <p:nvPr/>
        </p:nvSpPr>
        <p:spPr>
          <a:xfrm>
            <a:off x="6071616" y="1325880"/>
            <a:ext cx="457200" cy="457200"/>
          </a:xfrm>
          <a:prstGeom prst="ellipse">
            <a:avLst/>
          </a:prstGeom>
          <a:solidFill>
            <a:schemeClr val="accent2"/>
          </a:solidFill>
          <a:ln w="12700">
            <a:solidFill>
              <a:schemeClr val="accent2"/>
            </a:solidFill>
            <a:prstDash val="solid"/>
          </a:ln>
        </p:spPr>
      </p:sp>
      <p:sp>
        <p:nvSpPr>
          <p:cNvPr id="23" name="Text 21"/>
          <p:cNvSpPr txBox="1"/>
          <p:nvPr/>
        </p:nvSpPr>
        <p:spPr>
          <a:xfrm>
            <a:off x="6071616" y="13258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4" name="Text 22"/>
          <p:cNvSpPr txBox="1"/>
          <p:nvPr/>
        </p:nvSpPr>
        <p:spPr>
          <a:xfrm>
            <a:off x="5650992" y="1874520"/>
            <a:ext cx="1298448" cy="347472"/>
          </a:xfrm>
          <a:prstGeom prst="rect">
            <a:avLst/>
          </a:prstGeom>
          <a:noFill/>
          <a:ln/>
        </p:spPr>
        <p:txBody>
          <a:bodyPr wrap="square" lIns="0" tIns="0" rIns="0" bIns="0" rtlCol="0" anchor="t"/>
          <a:lstStyle/>
          <a:p>
            <a:pPr algn="ctr" indent="0" marL="0">
              <a:buNone/>
            </a:pPr>
            <a:r>
              <a:rPr lang="en-US" sz="1600" b="1" dirty="0">
                <a:solidFill>
                  <a:schemeClr val="bg1"/>
                </a:solidFill>
              </a:rPr>
              <a:t>Emit</a:t>
            </a:r>
            <a:endParaRPr lang="en-US" sz="1600" dirty="0"/>
          </a:p>
        </p:txBody>
      </p:sp>
      <p:sp>
        <p:nvSpPr>
          <p:cNvPr id="25" name="Text 23"/>
          <p:cNvSpPr txBox="1"/>
          <p:nvPr/>
        </p:nvSpPr>
        <p:spPr>
          <a:xfrm>
            <a:off x="5650992" y="2240280"/>
            <a:ext cx="1298448" cy="914400"/>
          </a:xfrm>
          <a:prstGeom prst="rect">
            <a:avLst/>
          </a:prstGeom>
          <a:noFill/>
          <a:ln/>
        </p:spPr>
        <p:txBody>
          <a:bodyPr wrap="square" lIns="0" tIns="0" rIns="0" bIns="0" rtlCol="0" anchor="t"/>
          <a:lstStyle/>
          <a:p>
            <a:pPr algn="ctr" indent="0" marL="0">
              <a:buNone/>
            </a:pPr>
            <a:r>
              <a:rPr lang="en-US" sz="1200" dirty="0">
                <a:solidFill>
                  <a:schemeClr val="bg1"/>
                </a:solidFill>
              </a:rPr>
              <a:t>mean outcome R of the batch (win +1, draw 0, loss −1)</a:t>
            </a:r>
            <a:endParaRPr lang="en-US" sz="1200" dirty="0"/>
          </a:p>
        </p:txBody>
      </p:sp>
      <p:sp>
        <p:nvSpPr>
          <p:cNvPr id="26" name="arrow"/>
          <p:cNvSpPr/>
          <p:nvPr/>
        </p:nvSpPr>
        <p:spPr>
          <a:xfrm>
            <a:off x="7050024" y="2057400"/>
            <a:ext cx="201168" cy="292608"/>
          </a:xfrm>
          <a:prstGeom prst="rightArrow">
            <a:avLst/>
          </a:prstGeom>
          <a:solidFill>
            <a:schemeClr val="accent2"/>
          </a:solidFill>
          <a:ln w="12700">
            <a:solidFill>
              <a:schemeClr val="accent2"/>
            </a:solidFill>
            <a:prstDash val="solid"/>
          </a:ln>
        </p:spPr>
      </p:sp>
      <p:sp>
        <p:nvSpPr>
          <p:cNvPr id="27" name="training step"/>
          <p:cNvSpPr/>
          <p:nvPr/>
        </p:nvSpPr>
        <p:spPr>
          <a:xfrm>
            <a:off x="7260336" y="1188720"/>
            <a:ext cx="1481328" cy="2011680"/>
          </a:xfrm>
          <a:prstGeom prst="roundRect">
            <a:avLst>
              <a:gd name="adj" fmla="val 493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28" name="badge"/>
          <p:cNvSpPr/>
          <p:nvPr/>
        </p:nvSpPr>
        <p:spPr>
          <a:xfrm>
            <a:off x="7772400" y="1325880"/>
            <a:ext cx="457200" cy="457200"/>
          </a:xfrm>
          <a:prstGeom prst="ellipse">
            <a:avLst/>
          </a:prstGeom>
          <a:solidFill>
            <a:schemeClr val="accent5"/>
          </a:solidFill>
          <a:ln w="12700">
            <a:solidFill>
              <a:schemeClr val="accent5"/>
            </a:solidFill>
            <a:prstDash val="solid"/>
          </a:ln>
        </p:spPr>
      </p:sp>
      <p:sp>
        <p:nvSpPr>
          <p:cNvPr id="29" name="Text 27"/>
          <p:cNvSpPr txBox="1"/>
          <p:nvPr/>
        </p:nvSpPr>
        <p:spPr>
          <a:xfrm>
            <a:off x="777240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7351776" y="1874520"/>
            <a:ext cx="1298448" cy="347472"/>
          </a:xfrm>
          <a:prstGeom prst="rect">
            <a:avLst/>
          </a:prstGeom>
          <a:noFill/>
          <a:ln/>
        </p:spPr>
        <p:txBody>
          <a:bodyPr wrap="square" lIns="0" tIns="0" rIns="0" bIns="0" rtlCol="0" anchor="t"/>
          <a:lstStyle/>
          <a:p>
            <a:pPr algn="ctr" indent="0" marL="0">
              <a:buNone/>
            </a:pPr>
            <a:r>
              <a:rPr lang="en-US" sz="1600" b="1" dirty="0">
                <a:solidFill>
                  <a:schemeClr val="tx1"/>
                </a:solidFill>
              </a:rPr>
              <a:t>Update</a:t>
            </a:r>
            <a:endParaRPr lang="en-US" sz="1600" dirty="0"/>
          </a:p>
        </p:txBody>
      </p:sp>
      <p:sp>
        <p:nvSpPr>
          <p:cNvPr id="31" name="Text 29"/>
          <p:cNvSpPr txBox="1"/>
          <p:nvPr/>
        </p:nvSpPr>
        <p:spPr>
          <a:xfrm>
            <a:off x="7351776" y="2240280"/>
            <a:ext cx="1298448" cy="914400"/>
          </a:xfrm>
          <a:prstGeom prst="rect">
            <a:avLst/>
          </a:prstGeom>
          <a:noFill/>
          <a:ln/>
        </p:spPr>
        <p:txBody>
          <a:bodyPr wrap="square" lIns="0" tIns="0" rIns="0" bIns="0" rtlCol="0" anchor="t"/>
          <a:lstStyle/>
          <a:p>
            <a:pPr algn="ctr" indent="0" marL="0">
              <a:buNone/>
            </a:pPr>
            <a:r>
              <a:rPr lang="en-US" sz="1200" dirty="0">
                <a:solidFill>
                  <a:schemeClr val="accent4"/>
                </a:solidFill>
              </a:rPr>
              <a:t>Q(s, a) = mean of all R seen for (s, a)</a:t>
            </a:r>
            <a:endParaRPr lang="en-US" sz="1200" dirty="0"/>
          </a:p>
        </p:txBody>
      </p:sp>
      <p:sp>
        <p:nvSpPr>
          <p:cNvPr id="32" name="policy card"/>
          <p:cNvSpPr/>
          <p:nvPr/>
        </p:nvSpPr>
        <p:spPr>
          <a:xfrm>
            <a:off x="457200" y="3520440"/>
            <a:ext cx="822960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33" name="Text 31"/>
          <p:cNvSpPr txBox="1"/>
          <p:nvPr/>
        </p:nvSpPr>
        <p:spPr>
          <a:xfrm>
            <a:off x="685800" y="3657600"/>
            <a:ext cx="7772400" cy="777240"/>
          </a:xfrm>
          <a:prstGeom prst="rect">
            <a:avLst/>
          </a:prstGeom>
          <a:noFill/>
          <a:ln/>
        </p:spPr>
        <p:txBody>
          <a:bodyPr wrap="square" lIns="0" tIns="0" rIns="0" bIns="0" rtlCol="0" anchor="ctr"/>
          <a:lstStyle/>
          <a:p>
            <a:pPr indent="0" marL="0">
              <a:buNone/>
            </a:pPr>
            <a:r>
              <a:rPr lang="en-US" sz="1400" b="1" dirty="0">
                <a:solidFill>
                  <a:schemeClr val="tx2"/>
                </a:solidFill>
              </a:rPr>
              <a:t>Policy:  </a:t>
            </a:r>
            <a:pPr indent="0" marL="0">
              <a:buNone/>
            </a:pPr>
            <a:r>
              <a:rPr lang="en-US" sz="1400" b="1" dirty="0">
                <a:solidFill>
                  <a:schemeClr val="tx1"/>
                </a:solidFill>
              </a:rPr>
              <a:t>π(s) = argmax_a Q(s, a)</a:t>
            </a:r>
            <a:pPr indent="0" marL="0">
              <a:buNone/>
            </a:pPr>
            <a:r>
              <a:rPr lang="en-US" sz="1400" dirty="0">
                <a:solidFill>
                  <a:schemeClr val="accent4"/>
                </a:solidFill>
              </a:rPr>
              <a:t>  — one personality per opponent class. Averaging over a batch makes the reward stationary where single games are not.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In the game: from calibrating to committed</a:t>
            </a:r>
            <a:endParaRPr lang="en-US" sz="2800" dirty="0"/>
          </a:p>
        </p:txBody>
      </p:sp>
      <p:sp>
        <p:nvSpPr>
          <p:cNvPr id="3" name="state"/>
          <p:cNvSpPr/>
          <p:nvPr/>
        </p:nvSpPr>
        <p:spPr>
          <a:xfrm>
            <a:off x="457200" y="1143000"/>
            <a:ext cx="1874520" cy="1143000"/>
          </a:xfrm>
          <a:prstGeom prst="roundRect">
            <a:avLst>
              <a:gd name="adj" fmla="val 8000"/>
            </a:avLst>
          </a:prstGeom>
          <a:solidFill>
            <a:schemeClr val="accent4"/>
          </a:solidFill>
          <a:ln w="12700">
            <a:solidFill>
              <a:schemeClr val="accent4"/>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548640" y="1234440"/>
            <a:ext cx="1691640" cy="365760"/>
          </a:xfrm>
          <a:prstGeom prst="rect">
            <a:avLst/>
          </a:prstGeom>
          <a:noFill/>
          <a:ln/>
        </p:spPr>
        <p:txBody>
          <a:bodyPr wrap="square" lIns="0" tIns="0" rIns="0" bIns="0" rtlCol="0" anchor="t"/>
          <a:lstStyle/>
          <a:p>
            <a:pPr algn="ctr" indent="0" marL="0">
              <a:buNone/>
            </a:pPr>
            <a:r>
              <a:rPr lang="en-US" sz="1600" b="1" dirty="0">
                <a:solidFill>
                  <a:schemeClr val="bg1"/>
                </a:solidFill>
              </a:rPr>
              <a:t>calibrating</a:t>
            </a:r>
            <a:endParaRPr lang="en-US" sz="1600" dirty="0"/>
          </a:p>
        </p:txBody>
      </p:sp>
      <p:sp>
        <p:nvSpPr>
          <p:cNvPr id="5" name="Text 3"/>
          <p:cNvSpPr txBox="1"/>
          <p:nvPr/>
        </p:nvSpPr>
        <p:spPr>
          <a:xfrm>
            <a:off x="548640" y="1627632"/>
            <a:ext cx="1691640" cy="594360"/>
          </a:xfrm>
          <a:prstGeom prst="rect">
            <a:avLst/>
          </a:prstGeom>
          <a:noFill/>
          <a:ln/>
        </p:spPr>
        <p:txBody>
          <a:bodyPr wrap="square" lIns="0" tIns="0" rIns="0" bIns="0" rtlCol="0" anchor="t"/>
          <a:lstStyle/>
          <a:p>
            <a:pPr algn="ctr" indent="0" marL="0">
              <a:buNone/>
            </a:pPr>
            <a:r>
              <a:rPr lang="en-US" sz="1200" dirty="0">
                <a:solidFill>
                  <a:schemeClr val="bg1"/>
                </a:solidFill>
              </a:rPr>
              <a:t>first 6 turns, default personality</a:t>
            </a:r>
            <a:endParaRPr lang="en-US" sz="1200" dirty="0"/>
          </a:p>
        </p:txBody>
      </p:sp>
      <p:sp>
        <p:nvSpPr>
          <p:cNvPr id="6" name="arrow"/>
          <p:cNvSpPr/>
          <p:nvPr/>
        </p:nvSpPr>
        <p:spPr>
          <a:xfrm>
            <a:off x="2340864" y="1554480"/>
            <a:ext cx="228600" cy="292608"/>
          </a:xfrm>
          <a:prstGeom prst="rightArrow">
            <a:avLst/>
          </a:prstGeom>
          <a:solidFill>
            <a:schemeClr val="accent2"/>
          </a:solidFill>
          <a:ln w="12700">
            <a:solidFill>
              <a:schemeClr val="accent2"/>
            </a:solidFill>
            <a:prstDash val="solid"/>
          </a:ln>
        </p:spPr>
      </p:sp>
      <p:sp>
        <p:nvSpPr>
          <p:cNvPr id="7" name="state"/>
          <p:cNvSpPr/>
          <p:nvPr/>
        </p:nvSpPr>
        <p:spPr>
          <a:xfrm>
            <a:off x="2578608" y="1143000"/>
            <a:ext cx="1874520" cy="1143000"/>
          </a:xfrm>
          <a:prstGeom prst="roundRect">
            <a:avLst>
              <a:gd name="adj" fmla="val 8000"/>
            </a:avLst>
          </a:prstGeom>
          <a:solidFill>
            <a:schemeClr val="accent1"/>
          </a:solidFill>
          <a:ln w="12700">
            <a:solidFill>
              <a:schemeClr val="accent1"/>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2670048" y="1234440"/>
            <a:ext cx="1691640" cy="365760"/>
          </a:xfrm>
          <a:prstGeom prst="rect">
            <a:avLst/>
          </a:prstGeom>
          <a:noFill/>
          <a:ln/>
        </p:spPr>
        <p:txBody>
          <a:bodyPr wrap="square" lIns="0" tIns="0" rIns="0" bIns="0" rtlCol="0" anchor="t"/>
          <a:lstStyle/>
          <a:p>
            <a:pPr algn="ctr" indent="0" marL="0">
              <a:buNone/>
            </a:pPr>
            <a:r>
              <a:rPr lang="en-US" sz="1600" b="1" dirty="0">
                <a:solidFill>
                  <a:schemeClr val="bg1"/>
                </a:solidFill>
              </a:rPr>
              <a:t>tracking</a:t>
            </a:r>
            <a:endParaRPr lang="en-US" sz="1600" dirty="0"/>
          </a:p>
        </p:txBody>
      </p:sp>
      <p:sp>
        <p:nvSpPr>
          <p:cNvPr id="9" name="Text 7"/>
          <p:cNvSpPr txBox="1"/>
          <p:nvPr/>
        </p:nvSpPr>
        <p:spPr>
          <a:xfrm>
            <a:off x="2670048" y="1627632"/>
            <a:ext cx="1691640" cy="594360"/>
          </a:xfrm>
          <a:prstGeom prst="rect">
            <a:avLst/>
          </a:prstGeom>
          <a:noFill/>
          <a:ln/>
        </p:spPr>
        <p:txBody>
          <a:bodyPr wrap="square" lIns="0" tIns="0" rIns="0" bIns="0" rtlCol="0" anchor="t"/>
          <a:lstStyle/>
          <a:p>
            <a:pPr algn="ctr" indent="0" marL="0">
              <a:buNone/>
            </a:pPr>
            <a:r>
              <a:rPr lang="en-US" sz="1200" dirty="0">
                <a:solidFill>
                  <a:schemeClr val="bg1"/>
                </a:solidFill>
              </a:rPr>
              <a:t>estimate each turn; wait for 2 identical estimates</a:t>
            </a:r>
            <a:endParaRPr lang="en-US" sz="1200" dirty="0"/>
          </a:p>
        </p:txBody>
      </p:sp>
      <p:sp>
        <p:nvSpPr>
          <p:cNvPr id="10" name="arrow"/>
          <p:cNvSpPr/>
          <p:nvPr/>
        </p:nvSpPr>
        <p:spPr>
          <a:xfrm>
            <a:off x="4462272" y="1554480"/>
            <a:ext cx="228600" cy="292608"/>
          </a:xfrm>
          <a:prstGeom prst="rightArrow">
            <a:avLst/>
          </a:prstGeom>
          <a:solidFill>
            <a:schemeClr val="accent2"/>
          </a:solidFill>
          <a:ln w="12700">
            <a:solidFill>
              <a:schemeClr val="accent2"/>
            </a:solidFill>
            <a:prstDash val="solid"/>
          </a:ln>
        </p:spPr>
      </p:sp>
      <p:sp>
        <p:nvSpPr>
          <p:cNvPr id="11" name="state"/>
          <p:cNvSpPr/>
          <p:nvPr/>
        </p:nvSpPr>
        <p:spPr>
          <a:xfrm>
            <a:off x="4700016" y="1143000"/>
            <a:ext cx="1874520" cy="1143000"/>
          </a:xfrm>
          <a:prstGeom prst="roundRect">
            <a:avLst>
              <a:gd name="adj" fmla="val 8000"/>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12" name="Text 10"/>
          <p:cNvSpPr txBox="1"/>
          <p:nvPr/>
        </p:nvSpPr>
        <p:spPr>
          <a:xfrm>
            <a:off x="4791456" y="1234440"/>
            <a:ext cx="1691640" cy="365760"/>
          </a:xfrm>
          <a:prstGeom prst="rect">
            <a:avLst/>
          </a:prstGeom>
          <a:noFill/>
          <a:ln/>
        </p:spPr>
        <p:txBody>
          <a:bodyPr wrap="square" lIns="0" tIns="0" rIns="0" bIns="0" rtlCol="0" anchor="t"/>
          <a:lstStyle/>
          <a:p>
            <a:pPr algn="ctr" indent="0" marL="0">
              <a:buNone/>
            </a:pPr>
            <a:r>
              <a:rPr lang="en-US" sz="1600" b="1" dirty="0">
                <a:solidFill>
                  <a:schemeClr val="bg1"/>
                </a:solidFill>
              </a:rPr>
              <a:t>committed</a:t>
            </a:r>
            <a:endParaRPr lang="en-US" sz="1600" dirty="0"/>
          </a:p>
        </p:txBody>
      </p:sp>
      <p:sp>
        <p:nvSpPr>
          <p:cNvPr id="13" name="Text 11"/>
          <p:cNvSpPr txBox="1"/>
          <p:nvPr/>
        </p:nvSpPr>
        <p:spPr>
          <a:xfrm>
            <a:off x="4791456" y="1627632"/>
            <a:ext cx="1691640" cy="594360"/>
          </a:xfrm>
          <a:prstGeom prst="rect">
            <a:avLst/>
          </a:prstGeom>
          <a:noFill/>
          <a:ln/>
        </p:spPr>
        <p:txBody>
          <a:bodyPr wrap="square" lIns="0" tIns="0" rIns="0" bIns="0" rtlCol="0" anchor="t"/>
          <a:lstStyle/>
          <a:p>
            <a:pPr algn="ctr" indent="0" marL="0">
              <a:buNone/>
            </a:pPr>
            <a:r>
              <a:rPr lang="en-US" sz="1200" dirty="0">
                <a:solidFill>
                  <a:schemeClr val="bg1"/>
                </a:solidFill>
              </a:rPr>
              <a:t>switch to the learned personality π(es)</a:t>
            </a:r>
            <a:endParaRPr lang="en-US" sz="1200" dirty="0"/>
          </a:p>
        </p:txBody>
      </p:sp>
      <p:sp>
        <p:nvSpPr>
          <p:cNvPr id="14" name="arrow"/>
          <p:cNvSpPr/>
          <p:nvPr/>
        </p:nvSpPr>
        <p:spPr>
          <a:xfrm>
            <a:off x="6583680" y="1554480"/>
            <a:ext cx="228600" cy="292608"/>
          </a:xfrm>
          <a:prstGeom prst="rightArrow">
            <a:avLst/>
          </a:prstGeom>
          <a:solidFill>
            <a:schemeClr val="accent2"/>
          </a:solidFill>
          <a:ln w="12700">
            <a:solidFill>
              <a:schemeClr val="accent2"/>
            </a:solidFill>
            <a:prstDash val="solid"/>
          </a:ln>
        </p:spPr>
      </p:sp>
      <p:sp>
        <p:nvSpPr>
          <p:cNvPr id="15" name="state"/>
          <p:cNvSpPr/>
          <p:nvPr/>
        </p:nvSpPr>
        <p:spPr>
          <a:xfrm>
            <a:off x="6821424" y="1143000"/>
            <a:ext cx="1874520" cy="1143000"/>
          </a:xfrm>
          <a:prstGeom prst="roundRect">
            <a:avLst>
              <a:gd name="adj" fmla="val 8000"/>
            </a:avLst>
          </a:prstGeom>
          <a:solidFill>
            <a:schemeClr val="accent3"/>
          </a:solidFill>
          <a:ln w="12700">
            <a:solidFill>
              <a:schemeClr val="accent3"/>
            </a:solidFill>
            <a:prstDash val="solid"/>
          </a:ln>
          <a:effectLst>
            <a:outerShdw sx="100000" sy="100000" kx="0" ky="0" algn="bl" rotWithShape="0" blurRad="76200" dist="25400" dir="5400000">
              <a:srgbClr val="000000">
                <a:alpha val="18000"/>
              </a:srgbClr>
            </a:outerShdw>
          </a:effectLst>
        </p:spPr>
      </p:sp>
      <p:sp>
        <p:nvSpPr>
          <p:cNvPr id="16" name="Text 14"/>
          <p:cNvSpPr txBox="1"/>
          <p:nvPr/>
        </p:nvSpPr>
        <p:spPr>
          <a:xfrm>
            <a:off x="6912864" y="1234440"/>
            <a:ext cx="1691640" cy="365760"/>
          </a:xfrm>
          <a:prstGeom prst="rect">
            <a:avLst/>
          </a:prstGeom>
          <a:noFill/>
          <a:ln/>
        </p:spPr>
        <p:txBody>
          <a:bodyPr wrap="square" lIns="0" tIns="0" rIns="0" bIns="0" rtlCol="0" anchor="t"/>
          <a:lstStyle/>
          <a:p>
            <a:pPr algn="ctr" indent="0" marL="0">
              <a:buNone/>
            </a:pPr>
            <a:r>
              <a:rPr lang="en-US" sz="1600" b="1" dirty="0">
                <a:solidFill>
                  <a:schemeClr val="bg1"/>
                </a:solidFill>
              </a:rPr>
              <a:t>frozen</a:t>
            </a:r>
            <a:endParaRPr lang="en-US" sz="1600" dirty="0"/>
          </a:p>
        </p:txBody>
      </p:sp>
      <p:sp>
        <p:nvSpPr>
          <p:cNvPr id="17" name="Text 15"/>
          <p:cNvSpPr txBox="1"/>
          <p:nvPr/>
        </p:nvSpPr>
        <p:spPr>
          <a:xfrm>
            <a:off x="6912864" y="1627632"/>
            <a:ext cx="1691640" cy="594360"/>
          </a:xfrm>
          <a:prstGeom prst="rect">
            <a:avLst/>
          </a:prstGeom>
          <a:noFill/>
          <a:ln/>
        </p:spPr>
        <p:txBody>
          <a:bodyPr wrap="square" lIns="0" tIns="0" rIns="0" bIns="0" rtlCol="0" anchor="t"/>
          <a:lstStyle/>
          <a:p>
            <a:pPr algn="ctr" indent="0" marL="0">
              <a:buNone/>
            </a:pPr>
            <a:r>
              <a:rPr lang="en-US" sz="1200" dirty="0">
                <a:solidFill>
                  <a:schemeClr val="bg1"/>
                </a:solidFill>
              </a:rPr>
              <a:t>under 60 s left: no more switches</a:t>
            </a:r>
            <a:endParaRPr lang="en-US" sz="1200" dirty="0"/>
          </a:p>
        </p:txBody>
      </p:sp>
      <p:sp>
        <p:nvSpPr>
          <p:cNvPr id="18" name="Text 16"/>
          <p:cNvSpPr txBox="1"/>
          <p:nvPr/>
        </p:nvSpPr>
        <p:spPr>
          <a:xfrm>
            <a:off x="457200" y="2560320"/>
            <a:ext cx="8229600" cy="320040"/>
          </a:xfrm>
          <a:prstGeom prst="rect">
            <a:avLst/>
          </a:prstGeom>
          <a:noFill/>
          <a:ln/>
        </p:spPr>
        <p:txBody>
          <a:bodyPr wrap="square" lIns="0" tIns="0" rIns="0" bIns="0" rtlCol="0" anchor="t"/>
          <a:lstStyle/>
          <a:p>
            <a:pPr indent="0" marL="0">
              <a:buNone/>
            </a:pPr>
            <a:r>
              <a:rPr lang="en-US" sz="1500" b="1" dirty="0">
                <a:solidFill>
                  <a:schemeClr val="tx1"/>
                </a:solidFill>
              </a:rPr>
              <a:t>A real game of the bot (test run): what the machine did</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8229600" cy="914400"/>
        </p:xfrm>
        <a:graphic>
          <a:graphicData uri="http://schemas.openxmlformats.org/drawingml/2006/table">
            <a:tbl>
              <a:tblPr/>
              <a:tblGrid>
                <a:gridCol w="731520"/>
                <a:gridCol w="1371600"/>
                <a:gridCol w="1554480"/>
                <a:gridCol w="1280160"/>
                <a:gridCol w="1463040"/>
                <a:gridCol w="1828800"/>
              </a:tblGrid>
              <a:tr h="347472">
                <a:tc>
                  <a:txBody>
                    <a:bodyPr/>
                    <a:lstStyle/>
                    <a:p>
                      <a:pPr algn="ctr" indent="0" marL="0">
                        <a:buNone/>
                      </a:pPr>
                      <a:r>
                        <a:rPr lang="en-US" sz="1200" b="1" dirty="0">
                          <a:solidFill>
                            <a:schemeClr val="bg1"/>
                          </a:solidFill>
                        </a:rPr>
                        <a:t>Turn</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Machine state</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Estimated opponent</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Symbols</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Generated reward</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Personality</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tx2"/>
                    </a:solidFill>
                  </a:tcPr>
                </a:tc>
              </a:tr>
              <a:tr h="347472">
                <a:tc>
                  <a:txBody>
                    <a:bodyPr/>
                    <a:lstStyle/>
                    <a:p>
                      <a:pPr algn="ctr" indent="0" marL="0">
                        <a:buNone/>
                      </a:pPr>
                      <a:r>
                        <a:rPr lang="en-US" sz="1200" dirty="0">
                          <a:solidFill>
                            <a:schemeClr val="tx1"/>
                          </a:solidFill>
                        </a:rPr>
                        <a:t>3</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tracking</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level 1</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same_class</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default</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r h="347472">
                <a:tc>
                  <a:txBody>
                    <a:bodyPr/>
                    <a:lstStyle/>
                    <a:p>
                      <a:pPr algn="ctr" indent="0" marL="0">
                        <a:buNone/>
                      </a:pPr>
                      <a:r>
                        <a:rPr lang="en-US" sz="1200" dirty="0">
                          <a:solidFill>
                            <a:schemeClr val="tx1"/>
                          </a:solidFill>
                        </a:rPr>
                        <a:t>4</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committed</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level 1</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same_class</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cautious (switched)</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1"/>
                    </a:solidFill>
                  </a:tcPr>
                </a:tc>
              </a:tr>
              <a:tr h="347472">
                <a:tc>
                  <a:txBody>
                    <a:bodyPr/>
                    <a:lstStyle/>
                    <a:p>
                      <a:pPr algn="ctr" indent="0" marL="0">
                        <a:buNone/>
                      </a:pPr>
                      <a:r>
                        <a:rPr lang="en-US" sz="1200" dirty="0">
                          <a:solidFill>
                            <a:schemeClr val="tx1"/>
                          </a:solidFill>
                        </a:rPr>
                        <a:t>5–14</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committed</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level 1</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same_class</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0.042</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cautious</a:t>
                      </a:r>
                      <a:endParaRPr lang="en-US" sz="1200" dirty="0"/>
                    </a:p>
                  </a:txBody>
                  <a:tcPr marL="45720" marR="45720" marT="45720" marB="45720" anchor="ctr">
                    <a:lnL w="6350" cap="flat" cmpd="sng" algn="ctr">
                      <a:solidFill>
                        <a:srgbClr val="D5DCD3"/>
                      </a:solidFill>
                      <a:prstDash val="solid"/>
                      <a:round/>
                      <a:headEnd type="none" w="med" len="med"/>
                      <a:tailEnd type="none" w="med" len="med"/>
                    </a:lnL>
                    <a:lnR w="6350" cap="flat" cmpd="sng" algn="ctr">
                      <a:solidFill>
                        <a:srgbClr val="D5DCD3"/>
                      </a:solidFill>
                      <a:prstDash val="solid"/>
                      <a:round/>
                      <a:headEnd type="none" w="med" len="med"/>
                      <a:tailEnd type="none" w="med" len="med"/>
                    </a:lnR>
                    <a:lnT w="6350" cap="flat" cmpd="sng" algn="ctr">
                      <a:solidFill>
                        <a:srgbClr val="D5DCD3"/>
                      </a:solidFill>
                      <a:prstDash val="solid"/>
                      <a:round/>
                      <a:headEnd type="none" w="med" len="med"/>
                      <a:tailEnd type="none" w="med" len="med"/>
                    </a:lnT>
                    <a:lnB w="6350" cap="flat" cmpd="sng" algn="ctr">
                      <a:solidFill>
                        <a:srgbClr val="D5DCD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Baseline: single-game Q-learning (srcork)</a:t>
            </a:r>
            <a:endParaRPr lang="en-US" sz="2800" dirty="0"/>
          </a:p>
        </p:txBody>
      </p:sp>
      <p:sp>
        <p:nvSpPr>
          <p:cNvPr id="3" name="baseline card"/>
          <p:cNvSpPr/>
          <p:nvPr/>
        </p:nvSpPr>
        <p:spPr>
          <a:xfrm>
            <a:off x="457200" y="1097280"/>
            <a:ext cx="397764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85800" y="1280160"/>
            <a:ext cx="3566160" cy="411480"/>
          </a:xfrm>
          <a:prstGeom prst="rect">
            <a:avLst/>
          </a:prstGeom>
          <a:noFill/>
          <a:ln/>
        </p:spPr>
        <p:txBody>
          <a:bodyPr wrap="square" lIns="0" tIns="0" rIns="0" bIns="0" rtlCol="0" anchor="t"/>
          <a:lstStyle/>
          <a:p>
            <a:pPr indent="0" marL="0">
              <a:buNone/>
            </a:pPr>
            <a:r>
              <a:rPr lang="en-US" sz="1800" b="1" dirty="0">
                <a:solidFill>
                  <a:schemeClr val="tx2"/>
                </a:solidFill>
              </a:rPr>
              <a:t>Q-learning (Algorithm 2)</a:t>
            </a:r>
            <a:endParaRPr lang="en-US" sz="1800" dirty="0"/>
          </a:p>
        </p:txBody>
      </p:sp>
      <p:sp>
        <p:nvSpPr>
          <p:cNvPr id="5" name="Text 3"/>
          <p:cNvSpPr txBox="1"/>
          <p:nvPr/>
        </p:nvSpPr>
        <p:spPr>
          <a:xfrm>
            <a:off x="685800" y="178308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State: own colour × opening (5 lines + “other”) = 12 states.</a:t>
            </a:r>
            <a:endParaRPr lang="en-US" sz="1400" dirty="0"/>
          </a:p>
          <a:p>
            <a:pPr marL="342900" indent="-342900">
              <a:spcAft>
                <a:spcPts val="600"/>
              </a:spcAft>
              <a:buSzPct val="100000"/>
              <a:buChar char="•"/>
            </a:pPr>
            <a:r>
              <a:rPr lang="en-US" sz="1400" dirty="0">
                <a:solidFill>
                  <a:schemeClr val="tx1"/>
                </a:solidFill>
              </a:rPr>
              <a:t>Action: a personality.</a:t>
            </a:r>
            <a:endParaRPr lang="en-US" sz="1400" dirty="0"/>
          </a:p>
          <a:p>
            <a:pPr marL="342900" indent="-342900">
              <a:spcAft>
                <a:spcPts val="600"/>
              </a:spcAft>
              <a:buSzPct val="100000"/>
              <a:buChar char="•"/>
            </a:pPr>
            <a:r>
              <a:rPr lang="en-US" sz="1400" dirty="0">
                <a:solidFill>
                  <a:schemeClr val="tx1"/>
                </a:solidFill>
              </a:rPr>
              <a:t>Reward: the result of one game.</a:t>
            </a:r>
            <a:endParaRPr lang="en-US" sz="1400" dirty="0"/>
          </a:p>
          <a:p>
            <a:pPr marL="342900" indent="-342900">
              <a:spcAft>
                <a:spcPts val="600"/>
              </a:spcAft>
              <a:buSzPct val="100000"/>
              <a:buChar char="•"/>
            </a:pPr>
            <a:r>
              <a:rPr lang="en-US" sz="1400" dirty="0">
                <a:solidFill>
                  <a:schemeClr val="tx1"/>
                </a:solidFill>
              </a:rPr>
              <a:t>Update: Q ← Q + α (R − Q).</a:t>
            </a:r>
            <a:endParaRPr lang="en-US" sz="1400" dirty="0"/>
          </a:p>
        </p:txBody>
      </p:sp>
      <p:sp>
        <p:nvSpPr>
          <p:cNvPr id="6" name="grm card"/>
          <p:cNvSpPr/>
          <p:nvPr/>
        </p:nvSpPr>
        <p:spPr>
          <a:xfrm>
            <a:off x="4709160" y="1097280"/>
            <a:ext cx="3977640" cy="3429000"/>
          </a:xfrm>
          <a:prstGeom prst="roundRect">
            <a:avLst>
              <a:gd name="adj" fmla="val 2133"/>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7" name="Text 5"/>
          <p:cNvSpPr txBox="1"/>
          <p:nvPr/>
        </p:nvSpPr>
        <p:spPr>
          <a:xfrm>
            <a:off x="4937760" y="1280160"/>
            <a:ext cx="3566160" cy="411480"/>
          </a:xfrm>
          <a:prstGeom prst="rect">
            <a:avLst/>
          </a:prstGeom>
          <a:noFill/>
          <a:ln/>
        </p:spPr>
        <p:txBody>
          <a:bodyPr wrap="square" lIns="0" tIns="0" rIns="0" bIns="0" rtlCol="0" anchor="t"/>
          <a:lstStyle/>
          <a:p>
            <a:pPr indent="0" marL="0">
              <a:buNone/>
            </a:pPr>
            <a:r>
              <a:rPr lang="en-US" sz="1800" b="1" dirty="0">
                <a:solidFill>
                  <a:schemeClr val="accent2"/>
                </a:solidFill>
              </a:rPr>
              <a:t>GRM (Algorithm 3)</a:t>
            </a:r>
            <a:endParaRPr lang="en-US" sz="1800" dirty="0"/>
          </a:p>
        </p:txBody>
      </p:sp>
      <p:sp>
        <p:nvSpPr>
          <p:cNvPr id="8" name="Text 6"/>
          <p:cNvSpPr txBox="1"/>
          <p:nvPr/>
        </p:nvSpPr>
        <p:spPr>
          <a:xfrm>
            <a:off x="4937760" y="178308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State: estimated opponent class (from the autoencoders).</a:t>
            </a:r>
            <a:endParaRPr lang="en-US" sz="1400" dirty="0"/>
          </a:p>
          <a:p>
            <a:pPr marL="342900" indent="-342900">
              <a:spcAft>
                <a:spcPts val="600"/>
              </a:spcAft>
              <a:buSzPct val="100000"/>
              <a:buChar char="•"/>
            </a:pPr>
            <a:r>
              <a:rPr lang="en-US" sz="1400" dirty="0">
                <a:solidFill>
                  <a:schemeClr val="bg1"/>
                </a:solidFill>
              </a:rPr>
              <a:t>Action: a personality.</a:t>
            </a:r>
            <a:endParaRPr lang="en-US" sz="1400" dirty="0"/>
          </a:p>
          <a:p>
            <a:pPr marL="342900" indent="-342900">
              <a:spcAft>
                <a:spcPts val="600"/>
              </a:spcAft>
              <a:buSzPct val="100000"/>
              <a:buChar char="•"/>
            </a:pPr>
            <a:r>
              <a:rPr lang="en-US" sz="1400" dirty="0">
                <a:solidFill>
                  <a:schemeClr val="bg1"/>
                </a:solidFill>
              </a:rPr>
              <a:t>Reward: mean outcome of a batch of 100 games.</a:t>
            </a:r>
            <a:endParaRPr lang="en-US" sz="1400" dirty="0"/>
          </a:p>
          <a:p>
            <a:pPr marL="342900" indent="-342900">
              <a:spcAft>
                <a:spcPts val="600"/>
              </a:spcAft>
              <a:buSzPct val="100000"/>
              <a:buChar char="•"/>
            </a:pPr>
            <a:r>
              <a:rPr lang="en-US" sz="1400" dirty="0">
                <a:solidFill>
                  <a:schemeClr val="bg1"/>
                </a:solidFill>
              </a:rPr>
              <a:t>Update: Q = mean of batch rewards; switch during the game.</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217920" cy="1234440"/>
          </a:xfrm>
          <a:prstGeom prst="rect">
            <a:avLst/>
          </a:prstGeom>
          <a:noFill/>
          <a:ln/>
        </p:spPr>
        <p:txBody>
          <a:bodyPr wrap="square" lIns="0" tIns="0" rIns="0" bIns="0" rtlCol="0" anchor="b"/>
          <a:lstStyle/>
          <a:p>
            <a:pPr algn="l" indent="0" marL="0">
              <a:buNone/>
            </a:pPr>
            <a:r>
              <a:rPr lang="en-US" sz="3600" b="1" dirty="0">
                <a:solidFill>
                  <a:schemeClr val="bg1"/>
                </a:solidFill>
              </a:rPr>
              <a:t>Code and results</a:t>
            </a:r>
            <a:endParaRPr lang="en-US" sz="3600" dirty="0"/>
          </a:p>
        </p:txBody>
      </p:sp>
      <p:sp>
        <p:nvSpPr>
          <p:cNvPr id="3" name="Text 0"/>
          <p:cNvSpPr/>
          <p:nvPr>
            <p:ph idx="101" type="body" hasCustomPrompt="1"/>
          </p:nvPr>
        </p:nvSpPr>
        <p:spPr>
          <a:xfrm>
            <a:off x="548640" y="3200400"/>
            <a:ext cx="6217920" cy="731520"/>
          </a:xfrm>
          <a:prstGeom prst="rect">
            <a:avLst/>
          </a:prstGeom>
          <a:noFill/>
          <a:ln/>
        </p:spPr>
        <p:txBody>
          <a:bodyPr wrap="square" lIns="0" tIns="0" rIns="0" bIns="0" rtlCol="0" anchor="t"/>
          <a:lstStyle/>
          <a:p>
            <a:pPr algn="l" indent="0" marL="0">
              <a:buNone/>
            </a:pPr>
            <a:r>
              <a:rPr lang="en-US" sz="1600" dirty="0">
                <a:solidFill>
                  <a:schemeClr val="bg2"/>
                </a:solidFill>
              </a:rPr>
              <a:t>From games to a tournament bot</a:t>
            </a:r>
            <a:endParaRPr lang="en-US" sz="1600" dirty="0"/>
          </a:p>
        </p:txBody>
      </p:sp>
      <p:sp>
        <p:nvSpPr>
          <p:cNvPr id="4" name="badge"/>
          <p:cNvSpPr/>
          <p:nvPr/>
        </p:nvSpPr>
        <p:spPr>
          <a:xfrm>
            <a:off x="548640" y="1005840"/>
            <a:ext cx="566928" cy="566928"/>
          </a:xfrm>
          <a:prstGeom prst="ellipse">
            <a:avLst/>
          </a:prstGeom>
          <a:solidFill>
            <a:schemeClr val="accent2"/>
          </a:solidFill>
          <a:ln w="12700">
            <a:solidFill>
              <a:schemeClr val="accent2"/>
            </a:solidFill>
            <a:prstDash val="solid"/>
          </a:ln>
        </p:spPr>
      </p:sp>
      <p:sp>
        <p:nvSpPr>
          <p:cNvPr id="5" name="Text 3"/>
          <p:cNvSpPr txBox="1"/>
          <p:nvPr/>
        </p:nvSpPr>
        <p:spPr>
          <a:xfrm>
            <a:off x="548640" y="1005840"/>
            <a:ext cx="566928" cy="566928"/>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The repository at a glance</a:t>
            </a:r>
            <a:endParaRPr lang="en-US" sz="2800" dirty="0"/>
          </a:p>
        </p:txBody>
      </p:sp>
      <p:sp>
        <p:nvSpPr>
          <p:cNvPr id="3" name="folder card"/>
          <p:cNvSpPr/>
          <p:nvPr/>
        </p:nvSpPr>
        <p:spPr>
          <a:xfrm>
            <a:off x="457200" y="1097280"/>
            <a:ext cx="402336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40080" y="1234440"/>
            <a:ext cx="1737360" cy="36576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grm_rbc/</a:t>
            </a:r>
            <a:endParaRPr lang="en-US" sz="1600" dirty="0"/>
          </a:p>
        </p:txBody>
      </p:sp>
      <p:sp>
        <p:nvSpPr>
          <p:cNvPr id="5" name="Text 3"/>
          <p:cNvSpPr txBox="1"/>
          <p:nvPr/>
        </p:nvSpPr>
        <p:spPr>
          <a:xfrm>
            <a:off x="2377440" y="1252728"/>
            <a:ext cx="1920240" cy="365760"/>
          </a:xfrm>
          <a:prstGeom prst="rect">
            <a:avLst/>
          </a:prstGeom>
          <a:noFill/>
          <a:ln/>
        </p:spPr>
        <p:txBody>
          <a:bodyPr wrap="square" lIns="0" tIns="0" rIns="0" bIns="0" rtlCol="0" anchor="t"/>
          <a:lstStyle/>
          <a:p>
            <a:pPr algn="r" indent="0" marL="0">
              <a:buNone/>
            </a:pPr>
            <a:r>
              <a:rPr lang="en-US" sz="1400" b="1" dirty="0">
                <a:solidFill>
                  <a:schemeClr val="accent6"/>
                </a:solidFill>
              </a:rPr>
              <a:t>The method</a:t>
            </a:r>
            <a:endParaRPr lang="en-US" sz="1400" dirty="0"/>
          </a:p>
        </p:txBody>
      </p:sp>
      <p:sp>
        <p:nvSpPr>
          <p:cNvPr id="6" name="Text 4"/>
          <p:cNvSpPr txBox="1"/>
          <p:nvPr/>
        </p:nvSpPr>
        <p:spPr>
          <a:xfrm>
            <a:off x="640080" y="1691640"/>
            <a:ext cx="3657600" cy="868680"/>
          </a:xfrm>
          <a:prstGeom prst="rect">
            <a:avLst/>
          </a:prstGeom>
          <a:noFill/>
          <a:ln/>
        </p:spPr>
        <p:txBody>
          <a:bodyPr wrap="square" lIns="0" tIns="0" rIns="0" bIns="0" rtlCol="0" anchor="t"/>
          <a:lstStyle/>
          <a:p>
            <a:pPr indent="0" marL="0">
              <a:buNone/>
            </a:pPr>
            <a:r>
              <a:rPr lang="en-US" sz="1300" dirty="0">
                <a:solidFill>
                  <a:schemeClr val="accent4"/>
                </a:solidFill>
              </a:rPr>
              <a:t>GRM and reward machines, estimator, personalities, the GRM bot, parallel games, server client</a:t>
            </a:r>
            <a:endParaRPr lang="en-US" sz="1300" dirty="0"/>
          </a:p>
        </p:txBody>
      </p:sp>
      <p:sp>
        <p:nvSpPr>
          <p:cNvPr id="7" name="folder card"/>
          <p:cNvSpPr/>
          <p:nvPr/>
        </p:nvSpPr>
        <p:spPr>
          <a:xfrm>
            <a:off x="4663440" y="1097280"/>
            <a:ext cx="402336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4846320" y="1234440"/>
            <a:ext cx="1737360" cy="36576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scripts/</a:t>
            </a:r>
            <a:endParaRPr lang="en-US" sz="1600" dirty="0"/>
          </a:p>
        </p:txBody>
      </p:sp>
      <p:sp>
        <p:nvSpPr>
          <p:cNvPr id="9" name="Text 7"/>
          <p:cNvSpPr txBox="1"/>
          <p:nvPr/>
        </p:nvSpPr>
        <p:spPr>
          <a:xfrm>
            <a:off x="6583680" y="1252728"/>
            <a:ext cx="1920240" cy="365760"/>
          </a:xfrm>
          <a:prstGeom prst="rect">
            <a:avLst/>
          </a:prstGeom>
          <a:noFill/>
          <a:ln/>
        </p:spPr>
        <p:txBody>
          <a:bodyPr wrap="square" lIns="0" tIns="0" rIns="0" bIns="0" rtlCol="0" anchor="t"/>
          <a:lstStyle/>
          <a:p>
            <a:pPr algn="r" indent="0" marL="0">
              <a:buNone/>
            </a:pPr>
            <a:r>
              <a:rPr lang="en-US" sz="1400" b="1" dirty="0">
                <a:solidFill>
                  <a:schemeClr val="accent6"/>
                </a:solidFill>
              </a:rPr>
              <a:t>The pipeline</a:t>
            </a:r>
            <a:endParaRPr lang="en-US" sz="1400" dirty="0"/>
          </a:p>
        </p:txBody>
      </p:sp>
      <p:sp>
        <p:nvSpPr>
          <p:cNvPr id="10" name="Text 8"/>
          <p:cNvSpPr txBox="1"/>
          <p:nvPr/>
        </p:nvSpPr>
        <p:spPr>
          <a:xfrm>
            <a:off x="4846320" y="1691640"/>
            <a:ext cx="3657600" cy="868680"/>
          </a:xfrm>
          <a:prstGeom prst="rect">
            <a:avLst/>
          </a:prstGeom>
          <a:noFill/>
          <a:ln/>
        </p:spPr>
        <p:txBody>
          <a:bodyPr wrap="square" lIns="0" tIns="0" rIns="0" bIns="0" rtlCol="0" anchor="t"/>
          <a:lstStyle/>
          <a:p>
            <a:pPr indent="0" marL="0">
              <a:buNone/>
            </a:pPr>
            <a:r>
              <a:rPr lang="en-US" sz="1300" dirty="0">
                <a:solidFill>
                  <a:schemeClr val="accent4"/>
                </a:solidFill>
              </a:rPr>
              <a:t>Trace generation, estimator training (CUDA 11.4 and 12.2), GRM training, evaluation, export</a:t>
            </a:r>
            <a:endParaRPr lang="en-US" sz="1300" dirty="0"/>
          </a:p>
        </p:txBody>
      </p:sp>
      <p:sp>
        <p:nvSpPr>
          <p:cNvPr id="11" name="folder card"/>
          <p:cNvSpPr/>
          <p:nvPr/>
        </p:nvSpPr>
        <p:spPr>
          <a:xfrm>
            <a:off x="457200" y="2788920"/>
            <a:ext cx="402336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2" name="Text 10"/>
          <p:cNvSpPr txBox="1"/>
          <p:nvPr/>
        </p:nvSpPr>
        <p:spPr>
          <a:xfrm>
            <a:off x="640080" y="2926080"/>
            <a:ext cx="1737360" cy="36576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uccchess/</a:t>
            </a:r>
            <a:endParaRPr lang="en-US" sz="1600" dirty="0"/>
          </a:p>
        </p:txBody>
      </p:sp>
      <p:sp>
        <p:nvSpPr>
          <p:cNvPr id="13" name="Text 11"/>
          <p:cNvSpPr txBox="1"/>
          <p:nvPr/>
        </p:nvSpPr>
        <p:spPr>
          <a:xfrm>
            <a:off x="2377440" y="2944368"/>
            <a:ext cx="1920240" cy="365760"/>
          </a:xfrm>
          <a:prstGeom prst="rect">
            <a:avLst/>
          </a:prstGeom>
          <a:noFill/>
          <a:ln/>
        </p:spPr>
        <p:txBody>
          <a:bodyPr wrap="square" lIns="0" tIns="0" rIns="0" bIns="0" rtlCol="0" anchor="t"/>
          <a:lstStyle/>
          <a:p>
            <a:pPr algn="r" indent="0" marL="0">
              <a:buNone/>
            </a:pPr>
            <a:r>
              <a:rPr lang="en-US" sz="1400" b="1" dirty="0">
                <a:solidFill>
                  <a:schemeClr val="accent6"/>
                </a:solidFill>
              </a:rPr>
              <a:t>The tournament bot</a:t>
            </a:r>
            <a:endParaRPr lang="en-US" sz="1400" dirty="0"/>
          </a:p>
        </p:txBody>
      </p:sp>
      <p:sp>
        <p:nvSpPr>
          <p:cNvPr id="14" name="Text 12"/>
          <p:cNvSpPr txBox="1"/>
          <p:nvPr/>
        </p:nvSpPr>
        <p:spPr>
          <a:xfrm>
            <a:off x="640080" y="3383280"/>
            <a:ext cx="3657600" cy="868680"/>
          </a:xfrm>
          <a:prstGeom prst="rect">
            <a:avLst/>
          </a:prstGeom>
          <a:noFill/>
          <a:ln/>
        </p:spPr>
        <p:txBody>
          <a:bodyPr wrap="square" lIns="0" tIns="0" rIns="0" bIns="0" rtlCol="0" anchor="t"/>
          <a:lstStyle/>
          <a:p>
            <a:pPr indent="0" marL="0">
              <a:buNone/>
            </a:pPr>
            <a:r>
              <a:rPr lang="en-US" sz="1300" dirty="0">
                <a:solidFill>
                  <a:schemeClr val="accent4"/>
                </a:solidFill>
              </a:rPr>
              <a:t>UCCChess agent, tournament_config.json, estimator model, local and server play</a:t>
            </a:r>
            <a:endParaRPr lang="en-US" sz="1300" dirty="0"/>
          </a:p>
        </p:txBody>
      </p:sp>
      <p:sp>
        <p:nvSpPr>
          <p:cNvPr id="15" name="folder card"/>
          <p:cNvSpPr/>
          <p:nvPr/>
        </p:nvSpPr>
        <p:spPr>
          <a:xfrm>
            <a:off x="4663440" y="2788920"/>
            <a:ext cx="402336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6" name="Text 14"/>
          <p:cNvSpPr txBox="1"/>
          <p:nvPr/>
        </p:nvSpPr>
        <p:spPr>
          <a:xfrm>
            <a:off x="4846320" y="2926080"/>
            <a:ext cx="1737360" cy="365760"/>
          </a:xfrm>
          <a:prstGeom prst="rect">
            <a:avLst/>
          </a:prstGeom>
          <a:noFill/>
          <a:ln/>
        </p:spPr>
        <p:txBody>
          <a:bodyPr wrap="square" lIns="0" tIns="0" rIns="0" bIns="0" rtlCol="0" anchor="t"/>
          <a:lstStyle/>
          <a:p>
            <a:pPr indent="0" marL="0">
              <a:buNone/>
            </a:pPr>
            <a:r>
              <a:rPr lang="en-US" sz="1600" b="1" dirty="0">
                <a:solidFill>
                  <a:schemeClr val="tx2"/>
                </a:solidFill>
                <a:latin typeface="Courier New" pitchFamily="34" charset="0"/>
                <a:ea typeface="Courier New" pitchFamily="34" charset="-122"/>
                <a:cs typeface="Courier New" pitchFamily="34" charset="-120"/>
              </a:rPr>
              <a:t>strangefish/</a:t>
            </a:r>
            <a:endParaRPr lang="en-US" sz="1600" dirty="0"/>
          </a:p>
        </p:txBody>
      </p:sp>
      <p:sp>
        <p:nvSpPr>
          <p:cNvPr id="17" name="Text 15"/>
          <p:cNvSpPr txBox="1"/>
          <p:nvPr/>
        </p:nvSpPr>
        <p:spPr>
          <a:xfrm>
            <a:off x="6583680" y="2944368"/>
            <a:ext cx="1920240" cy="365760"/>
          </a:xfrm>
          <a:prstGeom prst="rect">
            <a:avLst/>
          </a:prstGeom>
          <a:noFill/>
          <a:ln/>
        </p:spPr>
        <p:txBody>
          <a:bodyPr wrap="square" lIns="0" tIns="0" rIns="0" bIns="0" rtlCol="0" anchor="t"/>
          <a:lstStyle/>
          <a:p>
            <a:pPr algn="r" indent="0" marL="0">
              <a:buNone/>
            </a:pPr>
            <a:r>
              <a:rPr lang="en-US" sz="1400" b="1" dirty="0">
                <a:solidFill>
                  <a:schemeClr val="accent6"/>
                </a:solidFill>
              </a:rPr>
              <a:t>Base engine</a:t>
            </a:r>
            <a:endParaRPr lang="en-US" sz="1400" dirty="0"/>
          </a:p>
        </p:txBody>
      </p:sp>
      <p:sp>
        <p:nvSpPr>
          <p:cNvPr id="18" name="Text 16"/>
          <p:cNvSpPr txBox="1"/>
          <p:nvPr/>
        </p:nvSpPr>
        <p:spPr>
          <a:xfrm>
            <a:off x="4846320" y="3383280"/>
            <a:ext cx="3657600" cy="868680"/>
          </a:xfrm>
          <a:prstGeom prst="rect">
            <a:avLst/>
          </a:prstGeom>
          <a:noFill/>
          <a:ln/>
        </p:spPr>
        <p:txBody>
          <a:bodyPr wrap="square" lIns="0" tIns="0" rIns="0" bIns="0" rtlCol="0" anchor="t"/>
          <a:lstStyle/>
          <a:p>
            <a:pPr indent="0" marL="0">
              <a:buNone/>
            </a:pPr>
            <a:r>
              <a:rPr lang="en-US" sz="1300" dirty="0">
                <a:solidFill>
                  <a:schemeClr val="accent4"/>
                </a:solidFill>
              </a:rPr>
              <a:t>StrangeFish2 (BSD-3), unchanged except one Python 3.11 fix</a:t>
            </a:r>
            <a:endParaRPr lang="en-US" sz="1300" dirty="0"/>
          </a:p>
        </p:txBody>
      </p:sp>
      <p:sp>
        <p:nvSpPr>
          <p:cNvPr id="19" name="Text 17"/>
          <p:cNvSpPr txBox="1"/>
          <p:nvPr/>
        </p:nvSpPr>
        <p:spPr>
          <a:xfrm>
            <a:off x="457200" y="4480560"/>
            <a:ext cx="8229600" cy="237744"/>
          </a:xfrm>
          <a:prstGeom prst="rect">
            <a:avLst/>
          </a:prstGeom>
          <a:noFill/>
          <a:ln/>
        </p:spPr>
        <p:txBody>
          <a:bodyPr wrap="square" lIns="0" tIns="0" rIns="0" bIns="0" rtlCol="0" anchor="t"/>
          <a:lstStyle/>
          <a:p>
            <a:pPr indent="0" marL="0">
              <a:buNone/>
            </a:pPr>
            <a:r>
              <a:rPr lang="en-US" sz="1000" dirty="0">
                <a:solidFill>
                  <a:schemeClr val="accent4"/>
                </a:solidFill>
              </a:rPr>
              <a:t>Install files: environment-*.yml, requirements-*.txt, pyproject.toml, install_stockfish.sh, check_installation.py</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Pipeline: from games to a tournament bot</a:t>
            </a:r>
            <a:endParaRPr lang="en-US" sz="2800" dirty="0"/>
          </a:p>
        </p:txBody>
      </p:sp>
      <p:sp>
        <p:nvSpPr>
          <p:cNvPr id="3" name="badge"/>
          <p:cNvSpPr/>
          <p:nvPr/>
        </p:nvSpPr>
        <p:spPr>
          <a:xfrm>
            <a:off x="457200" y="1069848"/>
            <a:ext cx="438912" cy="438912"/>
          </a:xfrm>
          <a:prstGeom prst="ellipse">
            <a:avLst/>
          </a:prstGeom>
          <a:solidFill>
            <a:schemeClr val="tx2"/>
          </a:solidFill>
          <a:ln w="12700">
            <a:solidFill>
              <a:schemeClr val="tx2"/>
            </a:solidFill>
            <a:prstDash val="solid"/>
          </a:ln>
        </p:spPr>
      </p:sp>
      <p:sp>
        <p:nvSpPr>
          <p:cNvPr id="4" name="Text 2"/>
          <p:cNvSpPr txBox="1"/>
          <p:nvPr/>
        </p:nvSpPr>
        <p:spPr>
          <a:xfrm>
            <a:off x="457200" y="106984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51560" y="1143000"/>
            <a:ext cx="4023360" cy="310896"/>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generate_traces.py</a:t>
            </a:r>
            <a:endParaRPr lang="en-US" sz="1300" dirty="0"/>
          </a:p>
        </p:txBody>
      </p:sp>
      <p:sp>
        <p:nvSpPr>
          <p:cNvPr id="6" name="Text 4"/>
          <p:cNvSpPr txBox="1"/>
          <p:nvPr/>
        </p:nvSpPr>
        <p:spPr>
          <a:xfrm>
            <a:off x="5120640" y="1143000"/>
            <a:ext cx="3566160" cy="310896"/>
          </a:xfrm>
          <a:prstGeom prst="rect">
            <a:avLst/>
          </a:prstGeom>
          <a:noFill/>
          <a:ln/>
        </p:spPr>
        <p:txBody>
          <a:bodyPr wrap="square" lIns="0" tIns="0" rIns="0" bIns="0" rtlCol="0" anchor="t"/>
          <a:lstStyle/>
          <a:p>
            <a:pPr indent="0" marL="0">
              <a:buNone/>
            </a:pPr>
            <a:r>
              <a:rPr lang="en-US" sz="1400" dirty="0">
                <a:solidFill>
                  <a:schemeClr val="tx1"/>
                </a:solidFill>
              </a:rPr>
              <a:t>record board-set traces vs skill levels 1–20</a:t>
            </a:r>
            <a:endParaRPr lang="en-US" sz="1400" dirty="0"/>
          </a:p>
        </p:txBody>
      </p:sp>
      <p:sp>
        <p:nvSpPr>
          <p:cNvPr id="7" name="badge"/>
          <p:cNvSpPr/>
          <p:nvPr/>
        </p:nvSpPr>
        <p:spPr>
          <a:xfrm>
            <a:off x="457200" y="1655064"/>
            <a:ext cx="438912" cy="438912"/>
          </a:xfrm>
          <a:prstGeom prst="ellipse">
            <a:avLst/>
          </a:prstGeom>
          <a:solidFill>
            <a:schemeClr val="tx2"/>
          </a:solidFill>
          <a:ln w="12700">
            <a:solidFill>
              <a:schemeClr val="tx2"/>
            </a:solidFill>
            <a:prstDash val="solid"/>
          </a:ln>
        </p:spPr>
      </p:sp>
      <p:sp>
        <p:nvSpPr>
          <p:cNvPr id="8" name="Text 6"/>
          <p:cNvSpPr txBox="1"/>
          <p:nvPr/>
        </p:nvSpPr>
        <p:spPr>
          <a:xfrm>
            <a:off x="457200" y="165506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051560" y="1728216"/>
            <a:ext cx="4023360" cy="310896"/>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train_estimator_cuda122.py / _cuda114.py</a:t>
            </a:r>
            <a:endParaRPr lang="en-US" sz="1300" dirty="0"/>
          </a:p>
        </p:txBody>
      </p:sp>
      <p:sp>
        <p:nvSpPr>
          <p:cNvPr id="10" name="Text 8"/>
          <p:cNvSpPr txBox="1"/>
          <p:nvPr/>
        </p:nvSpPr>
        <p:spPr>
          <a:xfrm>
            <a:off x="5120640" y="1728216"/>
            <a:ext cx="3566160" cy="310896"/>
          </a:xfrm>
          <a:prstGeom prst="rect">
            <a:avLst/>
          </a:prstGeom>
          <a:noFill/>
          <a:ln/>
        </p:spPr>
        <p:txBody>
          <a:bodyPr wrap="square" lIns="0" tIns="0" rIns="0" bIns="0" rtlCol="0" anchor="t"/>
          <a:lstStyle/>
          <a:p>
            <a:pPr indent="0" marL="0">
              <a:buNone/>
            </a:pPr>
            <a:r>
              <a:rPr lang="en-US" sz="1400" dirty="0">
                <a:solidFill>
                  <a:schemeClr val="tx1"/>
                </a:solidFill>
              </a:rPr>
              <a:t>train the 20 autoencoders</a:t>
            </a:r>
            <a:endParaRPr lang="en-US" sz="1400" dirty="0"/>
          </a:p>
        </p:txBody>
      </p:sp>
      <p:sp>
        <p:nvSpPr>
          <p:cNvPr id="11" name="badge"/>
          <p:cNvSpPr/>
          <p:nvPr/>
        </p:nvSpPr>
        <p:spPr>
          <a:xfrm>
            <a:off x="457200" y="2240280"/>
            <a:ext cx="438912" cy="438912"/>
          </a:xfrm>
          <a:prstGeom prst="ellipse">
            <a:avLst/>
          </a:prstGeom>
          <a:solidFill>
            <a:schemeClr val="tx2"/>
          </a:solidFill>
          <a:ln w="12700">
            <a:solidFill>
              <a:schemeClr val="tx2"/>
            </a:solidFill>
            <a:prstDash val="solid"/>
          </a:ln>
        </p:spPr>
      </p:sp>
      <p:sp>
        <p:nvSpPr>
          <p:cNvPr id="12" name="Text 10"/>
          <p:cNvSpPr txBox="1"/>
          <p:nvPr/>
        </p:nvSpPr>
        <p:spPr>
          <a:xfrm>
            <a:off x="457200" y="224028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51560" y="2313432"/>
            <a:ext cx="4023360" cy="310896"/>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train_grm_policy.py</a:t>
            </a:r>
            <a:endParaRPr lang="en-US" sz="1300" dirty="0"/>
          </a:p>
        </p:txBody>
      </p:sp>
      <p:sp>
        <p:nvSpPr>
          <p:cNvPr id="14" name="Text 12"/>
          <p:cNvSpPr txBox="1"/>
          <p:nvPr/>
        </p:nvSpPr>
        <p:spPr>
          <a:xfrm>
            <a:off x="5120640" y="2313432"/>
            <a:ext cx="3566160" cy="310896"/>
          </a:xfrm>
          <a:prstGeom prst="rect">
            <a:avLst/>
          </a:prstGeom>
          <a:noFill/>
          <a:ln/>
        </p:spPr>
        <p:txBody>
          <a:bodyPr wrap="square" lIns="0" tIns="0" rIns="0" bIns="0" rtlCol="0" anchor="t"/>
          <a:lstStyle/>
          <a:p>
            <a:pPr indent="0" marL="0">
              <a:buNone/>
            </a:pPr>
            <a:r>
              <a:rPr lang="en-US" sz="1400" dirty="0">
                <a:solidFill>
                  <a:schemeClr val="tx1"/>
                </a:solidFill>
              </a:rPr>
              <a:t>learn Q(class, personality) with batch rewards</a:t>
            </a:r>
            <a:endParaRPr lang="en-US" sz="1400" dirty="0"/>
          </a:p>
        </p:txBody>
      </p:sp>
      <p:sp>
        <p:nvSpPr>
          <p:cNvPr id="15" name="badge"/>
          <p:cNvSpPr/>
          <p:nvPr/>
        </p:nvSpPr>
        <p:spPr>
          <a:xfrm>
            <a:off x="457200" y="2825496"/>
            <a:ext cx="438912" cy="438912"/>
          </a:xfrm>
          <a:prstGeom prst="ellipse">
            <a:avLst/>
          </a:prstGeom>
          <a:solidFill>
            <a:schemeClr val="tx2"/>
          </a:solidFill>
          <a:ln w="12700">
            <a:solidFill>
              <a:schemeClr val="tx2"/>
            </a:solidFill>
            <a:prstDash val="solid"/>
          </a:ln>
        </p:spPr>
      </p:sp>
      <p:sp>
        <p:nvSpPr>
          <p:cNvPr id="16" name="Text 14"/>
          <p:cNvSpPr txBox="1"/>
          <p:nvPr/>
        </p:nvSpPr>
        <p:spPr>
          <a:xfrm>
            <a:off x="457200" y="2825496"/>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051560" y="2898648"/>
            <a:ext cx="4023360" cy="310896"/>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evaluate.py</a:t>
            </a:r>
            <a:endParaRPr lang="en-US" sz="1300" dirty="0"/>
          </a:p>
        </p:txBody>
      </p:sp>
      <p:sp>
        <p:nvSpPr>
          <p:cNvPr id="18" name="Text 16"/>
          <p:cNvSpPr txBox="1"/>
          <p:nvPr/>
        </p:nvSpPr>
        <p:spPr>
          <a:xfrm>
            <a:off x="5120640" y="2898648"/>
            <a:ext cx="3566160" cy="310896"/>
          </a:xfrm>
          <a:prstGeom prst="rect">
            <a:avLst/>
          </a:prstGeom>
          <a:noFill/>
          <a:ln/>
        </p:spPr>
        <p:txBody>
          <a:bodyPr wrap="square" lIns="0" tIns="0" rIns="0" bIns="0" rtlCol="0" anchor="t"/>
          <a:lstStyle/>
          <a:p>
            <a:pPr indent="0" marL="0">
              <a:buNone/>
            </a:pPr>
            <a:r>
              <a:rPr lang="en-US" sz="1400" dirty="0">
                <a:solidFill>
                  <a:schemeClr val="tx1"/>
                </a:solidFill>
              </a:rPr>
              <a:t>compare GRM, StrangeFish2 and Q-learning</a:t>
            </a:r>
            <a:endParaRPr lang="en-US" sz="1400" dirty="0"/>
          </a:p>
        </p:txBody>
      </p:sp>
      <p:sp>
        <p:nvSpPr>
          <p:cNvPr id="19" name="badge"/>
          <p:cNvSpPr/>
          <p:nvPr/>
        </p:nvSpPr>
        <p:spPr>
          <a:xfrm>
            <a:off x="457200" y="3410712"/>
            <a:ext cx="438912" cy="438912"/>
          </a:xfrm>
          <a:prstGeom prst="ellipse">
            <a:avLst/>
          </a:prstGeom>
          <a:solidFill>
            <a:schemeClr val="accent2"/>
          </a:solidFill>
          <a:ln w="12700">
            <a:solidFill>
              <a:schemeClr val="accent2"/>
            </a:solidFill>
            <a:prstDash val="solid"/>
          </a:ln>
        </p:spPr>
      </p:sp>
      <p:sp>
        <p:nvSpPr>
          <p:cNvPr id="20" name="Text 18"/>
          <p:cNvSpPr txBox="1"/>
          <p:nvPr/>
        </p:nvSpPr>
        <p:spPr>
          <a:xfrm>
            <a:off x="457200" y="3410712"/>
            <a:ext cx="438912" cy="438912"/>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1" name="Text 19"/>
          <p:cNvSpPr txBox="1"/>
          <p:nvPr/>
        </p:nvSpPr>
        <p:spPr>
          <a:xfrm>
            <a:off x="1051560" y="3483864"/>
            <a:ext cx="4023360" cy="310896"/>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export_tournament_bot.py</a:t>
            </a:r>
            <a:endParaRPr lang="en-US" sz="1300" dirty="0"/>
          </a:p>
        </p:txBody>
      </p:sp>
      <p:sp>
        <p:nvSpPr>
          <p:cNvPr id="22" name="Text 20"/>
          <p:cNvSpPr txBox="1"/>
          <p:nvPr/>
        </p:nvSpPr>
        <p:spPr>
          <a:xfrm>
            <a:off x="5120640" y="3483864"/>
            <a:ext cx="3566160" cy="310896"/>
          </a:xfrm>
          <a:prstGeom prst="rect">
            <a:avLst/>
          </a:prstGeom>
          <a:noFill/>
          <a:ln/>
        </p:spPr>
        <p:txBody>
          <a:bodyPr wrap="square" lIns="0" tIns="0" rIns="0" bIns="0" rtlCol="0" anchor="t"/>
          <a:lstStyle/>
          <a:p>
            <a:pPr indent="0" marL="0">
              <a:buNone/>
            </a:pPr>
            <a:r>
              <a:rPr lang="en-US" sz="1400" dirty="0">
                <a:solidFill>
                  <a:schemeClr val="tx1"/>
                </a:solidFill>
              </a:rPr>
              <a:t>write hyperparameters into uccchess/</a:t>
            </a:r>
            <a:endParaRPr lang="en-US" sz="1400" dirty="0"/>
          </a:p>
        </p:txBody>
      </p:sp>
      <p:sp>
        <p:nvSpPr>
          <p:cNvPr id="23" name="badge"/>
          <p:cNvSpPr/>
          <p:nvPr/>
        </p:nvSpPr>
        <p:spPr>
          <a:xfrm>
            <a:off x="457200" y="3995928"/>
            <a:ext cx="438912" cy="438912"/>
          </a:xfrm>
          <a:prstGeom prst="ellipse">
            <a:avLst/>
          </a:prstGeom>
          <a:solidFill>
            <a:schemeClr val="tx2"/>
          </a:solidFill>
          <a:ln w="12700">
            <a:solidFill>
              <a:schemeClr val="tx2"/>
            </a:solidFill>
            <a:prstDash val="solid"/>
          </a:ln>
        </p:spPr>
      </p:sp>
      <p:sp>
        <p:nvSpPr>
          <p:cNvPr id="24" name="Text 22"/>
          <p:cNvSpPr txBox="1"/>
          <p:nvPr/>
        </p:nvSpPr>
        <p:spPr>
          <a:xfrm>
            <a:off x="457200" y="399592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Text 23"/>
          <p:cNvSpPr txBox="1"/>
          <p:nvPr/>
        </p:nvSpPr>
        <p:spPr>
          <a:xfrm>
            <a:off x="1051560" y="4069080"/>
            <a:ext cx="4023360" cy="310896"/>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uccchess/connect_server.py</a:t>
            </a:r>
            <a:endParaRPr lang="en-US" sz="1300" dirty="0"/>
          </a:p>
        </p:txBody>
      </p:sp>
      <p:sp>
        <p:nvSpPr>
          <p:cNvPr id="26" name="Text 24"/>
          <p:cNvSpPr txBox="1"/>
          <p:nvPr/>
        </p:nvSpPr>
        <p:spPr>
          <a:xfrm>
            <a:off x="5120640" y="4069080"/>
            <a:ext cx="3566160" cy="310896"/>
          </a:xfrm>
          <a:prstGeom prst="rect">
            <a:avLst/>
          </a:prstGeom>
          <a:noFill/>
          <a:ln/>
        </p:spPr>
        <p:txBody>
          <a:bodyPr wrap="square" lIns="0" tIns="0" rIns="0" bIns="0" rtlCol="0" anchor="t"/>
          <a:lstStyle/>
          <a:p>
            <a:pPr indent="0" marL="0">
              <a:buNone/>
            </a:pPr>
            <a:r>
              <a:rPr lang="en-US" sz="1400" dirty="0">
                <a:solidFill>
                  <a:schemeClr val="tx1"/>
                </a:solidFill>
              </a:rPr>
              <a:t>play on rbc.jhuapl.edu</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Every option in one CONFIG block</a:t>
            </a:r>
            <a:endParaRPr lang="en-US" sz="2800" dirty="0"/>
          </a:p>
        </p:txBody>
      </p:sp>
      <p:sp>
        <p:nvSpPr>
          <p:cNvPr id="3" name="code card"/>
          <p:cNvSpPr/>
          <p:nvPr/>
        </p:nvSpPr>
        <p:spPr>
          <a:xfrm>
            <a:off x="457200" y="1051560"/>
            <a:ext cx="4846320" cy="3520440"/>
          </a:xfrm>
          <a:prstGeom prst="roundRect">
            <a:avLst>
              <a:gd name="adj" fmla="val 2078"/>
            </a:avLst>
          </a:prstGeom>
          <a:solidFill>
            <a:schemeClr val="tx1"/>
          </a:solidFill>
          <a:ln w="12700">
            <a:solidFill>
              <a:schemeClr val="tx1"/>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58368" y="1207008"/>
            <a:ext cx="4526280" cy="324612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CONFIG =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"gpu_ids": [0, 1],      # [] = CPU | [0] | [0, 1]</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"arch": "gru",          # "gru" | "mlp" | "conv1d"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"loader": "tensor",     # | "torch_dataloader"</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"sampler": "balanced",  # | "shuffle"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"loss_type": "own",     # | "own_plus_margin"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"decision_rule": "raw", # | "zscore"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"optimizer": "adamw",   # | "adam" | "sgd"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"scheduler": "cosine",  # | "step" | "plateau"</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"epochs": 60,</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5" name="Text 3"/>
          <p:cNvSpPr txBox="1"/>
          <p:nvPr/>
        </p:nvSpPr>
        <p:spPr>
          <a:xfrm>
            <a:off x="5577840" y="1097280"/>
            <a:ext cx="3108960" cy="320040"/>
          </a:xfrm>
          <a:prstGeom prst="rect">
            <a:avLst/>
          </a:prstGeom>
          <a:noFill/>
          <a:ln/>
        </p:spPr>
        <p:txBody>
          <a:bodyPr wrap="square" lIns="0" tIns="0" rIns="0" bIns="0" rtlCol="0" anchor="t"/>
          <a:lstStyle/>
          <a:p>
            <a:pPr indent="0" marL="0">
              <a:buNone/>
            </a:pPr>
            <a:r>
              <a:rPr lang="en-US" sz="1500" b="1" dirty="0">
                <a:solidFill>
                  <a:schemeClr val="tx2"/>
                </a:solidFill>
              </a:rPr>
              <a:t>Two CUDA variants</a:t>
            </a:r>
            <a:endParaRPr lang="en-US" sz="1500" dirty="0"/>
          </a:p>
        </p:txBody>
      </p:sp>
      <p:sp>
        <p:nvSpPr>
          <p:cNvPr id="6" name="Text 4"/>
          <p:cNvSpPr txBox="1"/>
          <p:nvPr/>
        </p:nvSpPr>
        <p:spPr>
          <a:xfrm>
            <a:off x="5577840" y="1426464"/>
            <a:ext cx="3108960" cy="502920"/>
          </a:xfrm>
          <a:prstGeom prst="rect">
            <a:avLst/>
          </a:prstGeom>
          <a:noFill/>
          <a:ln/>
        </p:spPr>
        <p:txBody>
          <a:bodyPr wrap="square" lIns="0" tIns="0" rIns="0" bIns="0" rtlCol="0" anchor="t"/>
          <a:lstStyle/>
          <a:p>
            <a:pPr indent="0" marL="0">
              <a:buNone/>
            </a:pPr>
            <a:r>
              <a:rPr lang="en-US" sz="1300" dirty="0">
                <a:solidFill>
                  <a:schemeClr val="accent4"/>
                </a:solidFill>
              </a:rPr>
              <a:t>PyTorch &lt; 1.10 (CUDA 11.4) and PyTorch 2.x (CUDA 12.2)</a:t>
            </a:r>
            <a:endParaRPr lang="en-US" sz="1300" dirty="0"/>
          </a:p>
        </p:txBody>
      </p:sp>
      <p:sp>
        <p:nvSpPr>
          <p:cNvPr id="7" name="Text 5"/>
          <p:cNvSpPr txBox="1"/>
          <p:nvPr/>
        </p:nvSpPr>
        <p:spPr>
          <a:xfrm>
            <a:off x="5577840" y="1965960"/>
            <a:ext cx="3108960" cy="320040"/>
          </a:xfrm>
          <a:prstGeom prst="rect">
            <a:avLst/>
          </a:prstGeom>
          <a:noFill/>
          <a:ln/>
        </p:spPr>
        <p:txBody>
          <a:bodyPr wrap="square" lIns="0" tIns="0" rIns="0" bIns="0" rtlCol="0" anchor="t"/>
          <a:lstStyle/>
          <a:p>
            <a:pPr indent="0" marL="0">
              <a:buNone/>
            </a:pPr>
            <a:r>
              <a:rPr lang="en-US" sz="1500" b="1" dirty="0">
                <a:solidFill>
                  <a:schemeClr val="tx2"/>
                </a:solidFill>
              </a:rPr>
              <a:t>Multi-GPU</a:t>
            </a:r>
            <a:endParaRPr lang="en-US" sz="1500" dirty="0"/>
          </a:p>
        </p:txBody>
      </p:sp>
      <p:sp>
        <p:nvSpPr>
          <p:cNvPr id="8" name="Text 6"/>
          <p:cNvSpPr txBox="1"/>
          <p:nvPr/>
        </p:nvSpPr>
        <p:spPr>
          <a:xfrm>
            <a:off x="5577840" y="2295144"/>
            <a:ext cx="3108960" cy="502920"/>
          </a:xfrm>
          <a:prstGeom prst="rect">
            <a:avLst/>
          </a:prstGeom>
          <a:noFill/>
          <a:ln/>
        </p:spPr>
        <p:txBody>
          <a:bodyPr wrap="square" lIns="0" tIns="0" rIns="0" bIns="0" rtlCol="0" anchor="t"/>
          <a:lstStyle/>
          <a:p>
            <a:pPr indent="0" marL="0">
              <a:buNone/>
            </a:pPr>
            <a:r>
              <a:rPr lang="en-US" sz="1300" dirty="0">
                <a:solidFill>
                  <a:schemeClr val="accent4"/>
                </a:solidFill>
              </a:rPr>
              <a:t>gpu_ids → CUDA_VISIBLE_DEVICES + DataParallel</a:t>
            </a:r>
            <a:endParaRPr lang="en-US" sz="1300" dirty="0"/>
          </a:p>
        </p:txBody>
      </p:sp>
      <p:sp>
        <p:nvSpPr>
          <p:cNvPr id="9" name="Text 7"/>
          <p:cNvSpPr txBox="1"/>
          <p:nvPr/>
        </p:nvSpPr>
        <p:spPr>
          <a:xfrm>
            <a:off x="5577840" y="2834640"/>
            <a:ext cx="3108960" cy="320040"/>
          </a:xfrm>
          <a:prstGeom prst="rect">
            <a:avLst/>
          </a:prstGeom>
          <a:noFill/>
          <a:ln/>
        </p:spPr>
        <p:txBody>
          <a:bodyPr wrap="square" lIns="0" tIns="0" rIns="0" bIns="0" rtlCol="0" anchor="t"/>
          <a:lstStyle/>
          <a:p>
            <a:pPr indent="0" marL="0">
              <a:buNone/>
            </a:pPr>
            <a:r>
              <a:rPr lang="en-US" sz="1500" b="1" dirty="0">
                <a:solidFill>
                  <a:schemeClr val="tx2"/>
                </a:solidFill>
              </a:rPr>
              <a:t>Every epoch saved</a:t>
            </a:r>
            <a:endParaRPr lang="en-US" sz="1500" dirty="0"/>
          </a:p>
        </p:txBody>
      </p:sp>
      <p:sp>
        <p:nvSpPr>
          <p:cNvPr id="10" name="Text 8"/>
          <p:cNvSpPr txBox="1"/>
          <p:nvPr/>
        </p:nvSpPr>
        <p:spPr>
          <a:xfrm>
            <a:off x="5577840" y="3163824"/>
            <a:ext cx="3108960" cy="502920"/>
          </a:xfrm>
          <a:prstGeom prst="rect">
            <a:avLst/>
          </a:prstGeom>
          <a:noFill/>
          <a:ln/>
        </p:spPr>
        <p:txBody>
          <a:bodyPr wrap="square" lIns="0" tIns="0" rIns="0" bIns="0" rtlCol="0" anchor="t"/>
          <a:lstStyle/>
          <a:p>
            <a:pPr indent="0" marL="0">
              <a:buNone/>
            </a:pPr>
            <a:r>
              <a:rPr lang="en-US" sz="1300" dirty="0">
                <a:solidFill>
                  <a:schemeClr val="accent4"/>
                </a:solidFill>
              </a:rPr>
              <a:t>model, validation predictions and a report row</a:t>
            </a:r>
            <a:endParaRPr lang="en-US" sz="1300" dirty="0"/>
          </a:p>
        </p:txBody>
      </p:sp>
      <p:sp>
        <p:nvSpPr>
          <p:cNvPr id="11" name="Text 9"/>
          <p:cNvSpPr txBox="1"/>
          <p:nvPr/>
        </p:nvSpPr>
        <p:spPr>
          <a:xfrm>
            <a:off x="5577840" y="3703320"/>
            <a:ext cx="3108960" cy="320040"/>
          </a:xfrm>
          <a:prstGeom prst="rect">
            <a:avLst/>
          </a:prstGeom>
          <a:noFill/>
          <a:ln/>
        </p:spPr>
        <p:txBody>
          <a:bodyPr wrap="square" lIns="0" tIns="0" rIns="0" bIns="0" rtlCol="0" anchor="t"/>
          <a:lstStyle/>
          <a:p>
            <a:pPr indent="0" marL="0">
              <a:buNone/>
            </a:pPr>
            <a:r>
              <a:rPr lang="en-US" sz="1500" b="1" dirty="0">
                <a:solidFill>
                  <a:schemeClr val="tx2"/>
                </a:solidFill>
              </a:rPr>
              <a:t>Fails loudly</a:t>
            </a:r>
            <a:endParaRPr lang="en-US" sz="1500" dirty="0"/>
          </a:p>
        </p:txBody>
      </p:sp>
      <p:sp>
        <p:nvSpPr>
          <p:cNvPr id="12" name="Text 10"/>
          <p:cNvSpPr txBox="1"/>
          <p:nvPr/>
        </p:nvSpPr>
        <p:spPr>
          <a:xfrm>
            <a:off x="5577840" y="4032504"/>
            <a:ext cx="3108960" cy="502920"/>
          </a:xfrm>
          <a:prstGeom prst="rect">
            <a:avLst/>
          </a:prstGeom>
          <a:noFill/>
          <a:ln/>
        </p:spPr>
        <p:txBody>
          <a:bodyPr wrap="square" lIns="0" tIns="0" rIns="0" bIns="0" rtlCol="0" anchor="t"/>
          <a:lstStyle/>
          <a:p>
            <a:pPr indent="0" marL="0">
              <a:buNone/>
            </a:pPr>
            <a:r>
              <a:rPr lang="en-US" sz="1300" dirty="0">
                <a:solidFill>
                  <a:schemeClr val="accent4"/>
                </a:solidFill>
              </a:rPr>
              <a:t>missing or empty data stops the run</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The tournament bot is configured, not hard-coded</a:t>
            </a:r>
            <a:endParaRPr lang="en-US" sz="2800" dirty="0"/>
          </a:p>
        </p:txBody>
      </p:sp>
      <p:sp>
        <p:nvSpPr>
          <p:cNvPr id="3" name="json card"/>
          <p:cNvSpPr/>
          <p:nvPr/>
        </p:nvSpPr>
        <p:spPr>
          <a:xfrm>
            <a:off x="457200" y="1051560"/>
            <a:ext cx="4846320" cy="3520440"/>
          </a:xfrm>
          <a:prstGeom prst="roundRect">
            <a:avLst>
              <a:gd name="adj" fmla="val 2078"/>
            </a:avLst>
          </a:prstGeom>
          <a:solidFill>
            <a:schemeClr val="tx1"/>
          </a:solidFill>
          <a:ln w="12700">
            <a:solidFill>
              <a:schemeClr val="tx1"/>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58368" y="1188720"/>
            <a:ext cx="4526280" cy="3291840"/>
          </a:xfrm>
          <a:prstGeom prst="rect">
            <a:avLst/>
          </a:prstGeom>
          <a:noFill/>
          <a:ln/>
        </p:spPr>
        <p:txBody>
          <a:bodyPr wrap="square" lIns="0" tIns="0" rIns="0" bIns="0" rtlCol="0" anchor="t"/>
          <a:lstStyle/>
          <a:p>
            <a:pPr indent="0" marL="0">
              <a:buNone/>
            </a:pPr>
            <a:r>
              <a:rPr lang="en-US" sz="1050" dirty="0">
                <a:solidFill>
                  <a:schemeClr val="bg2"/>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"estimator": "models/estimator.pt",</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"class_policy": {"1": "cautious", ...,</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"20": "default"},</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"personalities": {</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"cautious": {"move": {</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"mean_score_factor": 0.5,</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"min_score_factor": 0.5,</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"max_score_factor": 0.0,</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"threshold_score": 5, ...}}},</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"runtime": {"warmup_turns": 6,</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"confirm_turns": 2, ...},</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"engine": {"threads": 3, "hash_mb": 2048}</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a:t>
            </a:r>
            <a:endParaRPr lang="en-US" sz="1050" dirty="0"/>
          </a:p>
        </p:txBody>
      </p:sp>
      <p:sp>
        <p:nvSpPr>
          <p:cNvPr id="5" name="Text 3"/>
          <p:cNvSpPr txBox="1"/>
          <p:nvPr/>
        </p:nvSpPr>
        <p:spPr>
          <a:xfrm>
            <a:off x="5577840" y="114300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uccchess/tournament_config.json holds everything the bot does in a tournament.</a:t>
            </a:r>
            <a:endParaRPr lang="en-US" sz="1400" dirty="0"/>
          </a:p>
          <a:p>
            <a:pPr marL="342900" indent="-342900">
              <a:spcAft>
                <a:spcPts val="600"/>
              </a:spcAft>
              <a:buSzPct val="100000"/>
              <a:buChar char="•"/>
            </a:pPr>
            <a:r>
              <a:rPr lang="en-US" sz="1400" dirty="0">
                <a:solidFill>
                  <a:schemeClr val="tx1"/>
                </a:solidFill>
              </a:rPr>
              <a:t>export_tournament_bot.py writes it from a training run, with every hyperparameter written out.</a:t>
            </a:r>
            <a:endParaRPr lang="en-US" sz="1400" dirty="0"/>
          </a:p>
          <a:p>
            <a:pPr marL="342900" indent="-342900">
              <a:spcAft>
                <a:spcPts val="600"/>
              </a:spcAft>
              <a:buSzPct val="100000"/>
              <a:buChar char="•"/>
            </a:pPr>
            <a:r>
              <a:rPr lang="en-US" sz="1400" dirty="0">
                <a:solidFill>
                  <a:schemeClr val="tx1"/>
                </a:solidFill>
              </a:rPr>
              <a:t>Review or edit it by hand; the bot validates it on load.</a:t>
            </a:r>
            <a:endParaRPr lang="en-US" sz="1400" dirty="0"/>
          </a:p>
          <a:p>
            <a:pPr marL="342900" indent="-342900">
              <a:spcAft>
                <a:spcPts val="600"/>
              </a:spcAft>
              <a:buSzPct val="100000"/>
              <a:buChar char="•"/>
            </a:pPr>
            <a:r>
              <a:rPr lang="en-US" sz="1400" dirty="0">
                <a:solidFill>
                  <a:schemeClr val="tx1"/>
                </a:solidFill>
              </a:rPr>
              <a:t>Without an estimator the bot plays StrangeFish2's own settings.</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Results at the NeurIPS 2022 tournament</a:t>
            </a:r>
            <a:endParaRPr lang="en-US" sz="2800" dirty="0"/>
          </a:p>
        </p:txBody>
      </p:sp>
      <p:graphicFrame>
        <p:nvGraphicFramePr>
          <p:cNvPr id="3" name="Chart 0" descr=""/>
          <p:cNvGraphicFramePr/>
          <p:nvPr/>
        </p:nvGraphicFramePr>
        <p:xfrm>
          <a:off x="457200" y="1051560"/>
          <a:ext cx="4754880" cy="3520440"/>
        </p:xfrm>
        <a:graphic xmlns:a="http://schemas.openxmlformats.org/drawingml/2006/main">
          <a:graphicData uri="http://schemas.openxmlformats.org/drawingml/2006/chart">
            <c:chart xmlns:c="http://schemas.openxmlformats.org/drawingml/2006/chart" r:id="rId1"/>
          </a:graphicData>
        </a:graphic>
      </p:graphicFrame>
      <p:sp>
        <p:nvSpPr>
          <p:cNvPr id="4" name="result card"/>
          <p:cNvSpPr/>
          <p:nvPr/>
        </p:nvSpPr>
        <p:spPr>
          <a:xfrm>
            <a:off x="5486400" y="1097280"/>
            <a:ext cx="320040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5" name="Text 2"/>
          <p:cNvSpPr txBox="1"/>
          <p:nvPr/>
        </p:nvSpPr>
        <p:spPr>
          <a:xfrm>
            <a:off x="5669280" y="1207008"/>
            <a:ext cx="1143000" cy="777240"/>
          </a:xfrm>
          <a:prstGeom prst="rect">
            <a:avLst/>
          </a:prstGeom>
          <a:noFill/>
          <a:ln/>
        </p:spPr>
        <p:txBody>
          <a:bodyPr wrap="square" lIns="0" tIns="0" rIns="0" bIns="0" rtlCol="0" anchor="ctr"/>
          <a:lstStyle/>
          <a:p>
            <a:pPr indent="0" marL="0">
              <a:buNone/>
            </a:pPr>
            <a:r>
              <a:rPr lang="en-US" sz="2800" b="1" dirty="0">
                <a:solidFill>
                  <a:schemeClr val="accent6"/>
                </a:solidFill>
              </a:rPr>
              <a:t>+175</a:t>
            </a:r>
            <a:endParaRPr lang="en-US" sz="2800" dirty="0"/>
          </a:p>
        </p:txBody>
      </p:sp>
      <p:sp>
        <p:nvSpPr>
          <p:cNvPr id="6" name="Text 3"/>
          <p:cNvSpPr txBox="1"/>
          <p:nvPr/>
        </p:nvSpPr>
        <p:spPr>
          <a:xfrm>
            <a:off x="6812280" y="1207008"/>
            <a:ext cx="1783080" cy="777240"/>
          </a:xfrm>
          <a:prstGeom prst="rect">
            <a:avLst/>
          </a:prstGeom>
          <a:noFill/>
          <a:ln/>
        </p:spPr>
        <p:txBody>
          <a:bodyPr wrap="square" lIns="0" tIns="0" rIns="0" bIns="0" rtlCol="0" anchor="ctr"/>
          <a:lstStyle/>
          <a:p>
            <a:pPr indent="0" marL="0">
              <a:buNone/>
            </a:pPr>
            <a:r>
              <a:rPr lang="en-US" sz="1200" dirty="0">
                <a:solidFill>
                  <a:schemeClr val="accent4"/>
                </a:solidFill>
              </a:rPr>
              <a:t>Elo for the GRM over the Q-learning baseline</a:t>
            </a:r>
            <a:endParaRPr lang="en-US" sz="1200" dirty="0"/>
          </a:p>
        </p:txBody>
      </p:sp>
      <p:sp>
        <p:nvSpPr>
          <p:cNvPr id="7" name="result card"/>
          <p:cNvSpPr/>
          <p:nvPr/>
        </p:nvSpPr>
        <p:spPr>
          <a:xfrm>
            <a:off x="5486400" y="2267712"/>
            <a:ext cx="320040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8" name="Text 5"/>
          <p:cNvSpPr txBox="1"/>
          <p:nvPr/>
        </p:nvSpPr>
        <p:spPr>
          <a:xfrm>
            <a:off x="5669280" y="2377440"/>
            <a:ext cx="1143000" cy="777240"/>
          </a:xfrm>
          <a:prstGeom prst="rect">
            <a:avLst/>
          </a:prstGeom>
          <a:noFill/>
          <a:ln/>
        </p:spPr>
        <p:txBody>
          <a:bodyPr wrap="square" lIns="0" tIns="0" rIns="0" bIns="0" rtlCol="0" anchor="ctr"/>
          <a:lstStyle/>
          <a:p>
            <a:pPr indent="0" marL="0">
              <a:buNone/>
            </a:pPr>
            <a:r>
              <a:rPr lang="en-US" sz="2800" b="1" dirty="0">
                <a:solidFill>
                  <a:schemeClr val="tx2"/>
                </a:solidFill>
              </a:rPr>
              <a:t>1025</a:t>
            </a:r>
            <a:endParaRPr lang="en-US" sz="2800" dirty="0"/>
          </a:p>
        </p:txBody>
      </p:sp>
      <p:sp>
        <p:nvSpPr>
          <p:cNvPr id="9" name="Text 6"/>
          <p:cNvSpPr txBox="1"/>
          <p:nvPr/>
        </p:nvSpPr>
        <p:spPr>
          <a:xfrm>
            <a:off x="6812280" y="2377440"/>
            <a:ext cx="1783080" cy="777240"/>
          </a:xfrm>
          <a:prstGeom prst="rect">
            <a:avLst/>
          </a:prstGeom>
          <a:noFill/>
          <a:ln/>
        </p:spPr>
        <p:txBody>
          <a:bodyPr wrap="square" lIns="0" tIns="0" rIns="0" bIns="0" rtlCol="0" anchor="ctr"/>
          <a:lstStyle/>
          <a:p>
            <a:pPr indent="0" marL="0">
              <a:buNone/>
            </a:pPr>
            <a:r>
              <a:rPr lang="en-US" sz="1200" dirty="0">
                <a:solidFill>
                  <a:schemeClr val="accent4"/>
                </a:solidFill>
              </a:rPr>
              <a:t>official Bayes Elo including forfeits (rank 14 of 18)</a:t>
            </a:r>
            <a:endParaRPr lang="en-US" sz="1200" dirty="0"/>
          </a:p>
        </p:txBody>
      </p:sp>
      <p:sp>
        <p:nvSpPr>
          <p:cNvPr id="10" name="result card"/>
          <p:cNvSpPr/>
          <p:nvPr/>
        </p:nvSpPr>
        <p:spPr>
          <a:xfrm>
            <a:off x="5486400" y="3438144"/>
            <a:ext cx="320040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sp>
        <p:nvSpPr>
          <p:cNvPr id="11" name="Text 8"/>
          <p:cNvSpPr txBox="1"/>
          <p:nvPr/>
        </p:nvSpPr>
        <p:spPr>
          <a:xfrm>
            <a:off x="5669280" y="3547872"/>
            <a:ext cx="1143000" cy="777240"/>
          </a:xfrm>
          <a:prstGeom prst="rect">
            <a:avLst/>
          </a:prstGeom>
          <a:noFill/>
          <a:ln/>
        </p:spPr>
        <p:txBody>
          <a:bodyPr wrap="square" lIns="0" tIns="0" rIns="0" bIns="0" rtlCol="0" anchor="ctr"/>
          <a:lstStyle/>
          <a:p>
            <a:pPr indent="0" marL="0">
              <a:buNone/>
            </a:pPr>
            <a:r>
              <a:rPr lang="en-US" sz="2800" b="1" dirty="0">
                <a:solidFill>
                  <a:schemeClr val="tx2"/>
                </a:solidFill>
              </a:rPr>
              <a:t>1762</a:t>
            </a:r>
            <a:endParaRPr lang="en-US" sz="2800" dirty="0"/>
          </a:p>
        </p:txBody>
      </p:sp>
      <p:sp>
        <p:nvSpPr>
          <p:cNvPr id="12" name="Text 9"/>
          <p:cNvSpPr txBox="1"/>
          <p:nvPr/>
        </p:nvSpPr>
        <p:spPr>
          <a:xfrm>
            <a:off x="6812280" y="3547872"/>
            <a:ext cx="1783080" cy="777240"/>
          </a:xfrm>
          <a:prstGeom prst="rect">
            <a:avLst/>
          </a:prstGeom>
          <a:noFill/>
          <a:ln/>
        </p:spPr>
        <p:txBody>
          <a:bodyPr wrap="square" lIns="0" tIns="0" rIns="0" bIns="0" rtlCol="0" anchor="ctr"/>
          <a:lstStyle/>
          <a:p>
            <a:pPr indent="0" marL="0">
              <a:buNone/>
            </a:pPr>
            <a:r>
              <a:rPr lang="en-US" sz="1200" dirty="0">
                <a:solidFill>
                  <a:schemeClr val="accent4"/>
                </a:solidFill>
              </a:rPr>
              <a:t>tournament winner StrangeFish2, uccchess's base engine</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754880" cy="1737360"/>
          </a:xfrm>
          <a:prstGeom prst="rect">
            <a:avLst/>
          </a:prstGeom>
          <a:noFill/>
          <a:ln/>
        </p:spPr>
        <p:txBody>
          <a:bodyPr wrap="square" lIns="0" tIns="0" rIns="0" bIns="0" rtlCol="0" anchor="b"/>
          <a:lstStyle/>
          <a:p>
            <a:pPr algn="l" indent="0" marL="0">
              <a:buNone/>
            </a:pPr>
            <a:r>
              <a:rPr lang="en-US" sz="3400" b="1" dirty="0">
                <a:solidFill>
                  <a:schemeClr val="bg1"/>
                </a:solidFill>
              </a:rPr>
              <a:t>Takeaways</a:t>
            </a:r>
            <a:endParaRPr lang="en-US" sz="3400" dirty="0"/>
          </a:p>
        </p:txBody>
      </p:sp>
      <p:sp>
        <p:nvSpPr>
          <p:cNvPr id="3" name="Text 0"/>
          <p:cNvSpPr/>
          <p:nvPr>
            <p:ph idx="101" type="body" hasCustomPrompt="1"/>
          </p:nvPr>
        </p:nvSpPr>
        <p:spPr>
          <a:xfrm>
            <a:off x="548640" y="3017520"/>
            <a:ext cx="4754880" cy="1188720"/>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chemeClr val="bg2"/>
                </a:solidFill>
              </a:rPr>
              <a:t>RBC turns chess into a game of hidden information and noisy outcomes.</a:t>
            </a:r>
            <a:endParaRPr lang="en-US" sz="1600" dirty="0"/>
          </a:p>
          <a:p>
            <a:pPr algn="l" marL="342900" indent="-342900">
              <a:spcAft>
                <a:spcPts val="600"/>
              </a:spcAft>
              <a:buSzPct val="100000"/>
              <a:buChar char="•"/>
            </a:pPr>
            <a:r>
              <a:rPr lang="en-US" sz="1600" dirty="0">
                <a:solidFill>
                  <a:schemeClr val="bg2"/>
                </a:solidFill>
              </a:rPr>
              <a:t>The GRM estimates the opponent class and puts a stationary batch reward on it.</a:t>
            </a:r>
            <a:endParaRPr lang="en-US" sz="1600" dirty="0"/>
          </a:p>
          <a:p>
            <a:pPr algn="l" marL="342900" indent="-342900">
              <a:buSzPct val="100000"/>
              <a:buChar char="•"/>
            </a:pPr>
            <a:r>
              <a:rPr lang="en-US" sz="1600" dirty="0">
                <a:solidFill>
                  <a:schemeClr val="bg2"/>
                </a:solidFill>
              </a:rPr>
              <a:t>uccchess: StrangeFish2 whose personality is chosen by the GRM during the game.</a:t>
            </a:r>
            <a:endParaRPr lang="en-US" sz="1600" dirty="0"/>
          </a:p>
        </p:txBody>
      </p:sp>
      <p:sp>
        <p:nvSpPr>
          <p:cNvPr id="4" name="links card"/>
          <p:cNvSpPr/>
          <p:nvPr/>
        </p:nvSpPr>
        <p:spPr>
          <a:xfrm>
            <a:off x="5669280" y="1143000"/>
            <a:ext cx="3017520" cy="2514600"/>
          </a:xfrm>
          <a:prstGeom prst="roundRect">
            <a:avLst>
              <a:gd name="adj" fmla="val 2909"/>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5852160" y="1325880"/>
            <a:ext cx="2651760" cy="2194560"/>
          </a:xfrm>
          <a:prstGeom prst="rect">
            <a:avLst/>
          </a:prstGeom>
          <a:noFill/>
          <a:ln/>
        </p:spPr>
        <p:txBody>
          <a:bodyPr wrap="square" lIns="0" tIns="0" rIns="0" bIns="0" rtlCol="0" anchor="t"/>
          <a:lstStyle/>
          <a:p>
            <a:pPr indent="0" marL="0">
              <a:buNone/>
            </a:pPr>
            <a:r>
              <a:rPr lang="en-US" sz="1400" b="1" dirty="0">
                <a:solidFill>
                  <a:schemeClr val="accent2"/>
                </a:solidFill>
              </a:rPr>
              <a:t>Tournament paper</a:t>
            </a:r>
            <a:endParaRPr lang="en-US" sz="1400" dirty="0"/>
          </a:p>
          <a:p>
            <a:pPr indent="0" marL="0">
              <a:buNone/>
            </a:pPr>
            <a:r>
              <a:rPr lang="en-US" sz="1100" dirty="0">
                <a:solidFill>
                  <a:schemeClr val="bg1"/>
                </a:solidFill>
              </a:rPr>
              <a:t>proceedings.mlr.press/v220/gardner23a.html</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2"/>
                </a:solidFill>
              </a:rPr>
              <a:t>Thesis</a:t>
            </a:r>
            <a:endParaRPr lang="en-US" sz="1400" dirty="0"/>
          </a:p>
          <a:p>
            <a:pPr indent="0" marL="0">
              <a:buNone/>
            </a:pPr>
            <a:r>
              <a:rPr lang="en-US" sz="1100" dirty="0">
                <a:solidFill>
                  <a:schemeClr val="bg1"/>
                </a:solidFill>
              </a:rPr>
              <a:t>cora.ucc.ie</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2"/>
                </a:solidFill>
              </a:rPr>
              <a:t>Base engine</a:t>
            </a:r>
            <a:endParaRPr lang="en-US" sz="1400" dirty="0"/>
          </a:p>
          <a:p>
            <a:pPr indent="0" marL="0">
              <a:buNone/>
            </a:pPr>
            <a:r>
              <a:rPr lang="en-US" sz="1100" dirty="0">
                <a:solidFill>
                  <a:schemeClr val="bg1"/>
                </a:solidFill>
              </a:rPr>
              <a:t>github.com/ginoperrotta/reconchess-strangefish2</a:t>
            </a:r>
            <a:endParaRPr lang="en-US" sz="1400" dirty="0"/>
          </a:p>
        </p:txBody>
      </p:sp>
    </p:spTree>
  </p:cSld>
  <p:clrMapOvr>
    <a:masterClrMapping/>
  </p:clrMapOvr>
</p:sld>
</file>

<file path=ppt/theme/theme1.xml><?xml version="1.0" encoding="utf-8"?>
<a:theme xmlns:a="http://schemas.openxmlformats.org/drawingml/2006/main" name="Recon Board">
  <a:themeElements>
    <a:clrScheme name="Recon Board">
      <a:dk1>
        <a:srgbClr val="1C2B22"/>
      </a:dk1>
      <a:lt1>
        <a:srgbClr val="FFFFFF"/>
      </a:lt1>
      <a:dk2>
        <a:srgbClr val="2E5E45"/>
      </a:dk2>
      <a:lt2>
        <a:srgbClr val="EEF2EA"/>
      </a:lt2>
      <a:accent1>
        <a:srgbClr val="769656"/>
      </a:accent1>
      <a:accent2>
        <a:srgbClr val="E8A33D"/>
      </a:accent2>
      <a:accent3>
        <a:srgbClr val="D64545"/>
      </a:accent3>
      <a:accent4>
        <a:srgbClr val="3A3F44"/>
      </a:accent4>
      <a:accent5>
        <a:srgbClr val="2E7D5B"/>
      </a:accent5>
      <a:accent6>
        <a:srgbClr val="C2410C"/>
      </a:accent6>
      <a:hlink>
        <a:srgbClr val="2E5E45"/>
      </a:hlink>
      <a:folHlink>
        <a:srgbClr val="769656"/>
      </a:folHlink>
    </a:clrScheme>
    <a:fontScheme name="Recon Bo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Reward Machines for Reconnaissance Blind Chess</dc:title>
  <dc:subject>uccchess: training and implementation</dc:subject>
  <dc:creator>Saeid Rezaei</dc:creator>
  <cp:lastModifiedBy>Saeid Rezaei</cp:lastModifiedBy>
  <cp:revision>1</cp:revision>
</cp:coreProperties>
</file>